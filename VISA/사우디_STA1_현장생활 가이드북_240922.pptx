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998" r:id="rId2"/>
    <p:sldId id="999" r:id="rId3"/>
    <p:sldId id="1086" r:id="rId4"/>
    <p:sldId id="1095" r:id="rId5"/>
    <p:sldId id="1088" r:id="rId6"/>
    <p:sldId id="1096" r:id="rId7"/>
    <p:sldId id="1090" r:id="rId8"/>
    <p:sldId id="1091" r:id="rId9"/>
    <p:sldId id="1092" r:id="rId10"/>
    <p:sldId id="1093" r:id="rId11"/>
    <p:sldId id="1031" r:id="rId12"/>
    <p:sldId id="1060" r:id="rId13"/>
    <p:sldId id="1049" r:id="rId14"/>
    <p:sldId id="1041" r:id="rId15"/>
    <p:sldId id="1042" r:id="rId16"/>
  </p:sldIdLst>
  <p:sldSz cx="9906000" cy="6858000" type="A4"/>
  <p:notesSz cx="10234613" cy="7099300"/>
  <p:defaultTextStyle>
    <a:defPPr>
      <a:defRPr lang="ko-KR"/>
    </a:defPPr>
    <a:lvl1pPr marL="0" algn="l" defTabSz="914228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4" algn="l" defTabSz="914228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8" algn="l" defTabSz="914228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43" algn="l" defTabSz="914228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56" algn="l" defTabSz="914228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70" algn="l" defTabSz="914228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84" algn="l" defTabSz="914228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99" algn="l" defTabSz="914228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13" algn="l" defTabSz="914228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29">
          <p15:clr>
            <a:srgbClr val="A4A3A4"/>
          </p15:clr>
        </p15:guide>
        <p15:guide id="2" orient="horz">
          <p15:clr>
            <a:srgbClr val="A4A3A4"/>
          </p15:clr>
        </p15:guide>
        <p15:guide id="3" orient="horz" pos="196">
          <p15:clr>
            <a:srgbClr val="A4A3A4"/>
          </p15:clr>
        </p15:guide>
        <p15:guide id="4" orient="horz" pos="4124">
          <p15:clr>
            <a:srgbClr val="A4A3A4"/>
          </p15:clr>
        </p15:guide>
        <p15:guide id="5" orient="horz" pos="1178">
          <p15:clr>
            <a:srgbClr val="A4A3A4"/>
          </p15:clr>
        </p15:guide>
        <p15:guide id="6" orient="horz" pos="1027">
          <p15:clr>
            <a:srgbClr val="A4A3A4"/>
          </p15:clr>
        </p15:guide>
        <p15:guide id="7" orient="horz" pos="3973">
          <p15:clr>
            <a:srgbClr val="A4A3A4"/>
          </p15:clr>
        </p15:guide>
        <p15:guide id="8" pos="6065">
          <p15:clr>
            <a:srgbClr val="A4A3A4"/>
          </p15:clr>
        </p15:guide>
        <p15:guide id="9" pos="99">
          <p15:clr>
            <a:srgbClr val="A4A3A4"/>
          </p15:clr>
        </p15:guide>
        <p15:guide id="10" pos="175">
          <p15:clr>
            <a:srgbClr val="A4A3A4"/>
          </p15:clr>
        </p15:guide>
        <p15:guide id="11" pos="6141">
          <p15:clr>
            <a:srgbClr val="A4A3A4"/>
          </p15:clr>
        </p15:guide>
        <p15:guide id="12" pos="3271">
          <p15:clr>
            <a:srgbClr val="A4A3A4"/>
          </p15:clr>
        </p15:guide>
        <p15:guide id="13" pos="3120">
          <p15:clr>
            <a:srgbClr val="A4A3A4"/>
          </p15:clr>
        </p15:guide>
        <p15:guide id="14" pos="296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7">
          <p15:clr>
            <a:srgbClr val="A4A3A4"/>
          </p15:clr>
        </p15:guide>
        <p15:guide id="2" pos="32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C" initials="H" lastIdx="0" clrIdx="0">
    <p:extLst>
      <p:ext uri="{19B8F6BF-5375-455C-9EA6-DF929625EA0E}">
        <p15:presenceInfo xmlns:p15="http://schemas.microsoft.com/office/powerpoint/2012/main" userId="bfd66bd3dfb187f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53BB"/>
    <a:srgbClr val="0000C8"/>
    <a:srgbClr val="FF0000"/>
    <a:srgbClr val="808080"/>
    <a:srgbClr val="10253F"/>
    <a:srgbClr val="FFFF99"/>
    <a:srgbClr val="4476B2"/>
    <a:srgbClr val="F2F2F2"/>
    <a:srgbClr val="2C4C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747" autoAdjust="0"/>
    <p:restoredTop sz="99654" autoAdjust="0"/>
  </p:normalViewPr>
  <p:slideViewPr>
    <p:cSldViewPr showGuides="1">
      <p:cViewPr>
        <p:scale>
          <a:sx n="125" d="100"/>
          <a:sy n="125" d="100"/>
        </p:scale>
        <p:origin x="1464" y="-492"/>
      </p:cViewPr>
      <p:guideLst>
        <p:guide orient="horz" pos="1329"/>
        <p:guide orient="horz"/>
        <p:guide orient="horz" pos="196"/>
        <p:guide orient="horz" pos="4124"/>
        <p:guide orient="horz" pos="1178"/>
        <p:guide orient="horz" pos="1027"/>
        <p:guide orient="horz" pos="3973"/>
        <p:guide pos="6065"/>
        <p:guide pos="99"/>
        <p:guide pos="175"/>
        <p:guide pos="6141"/>
        <p:guide pos="3271"/>
        <p:guide pos="3120"/>
        <p:guide pos="296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296"/>
    </p:cViewPr>
  </p:sorterViewPr>
  <p:notesViewPr>
    <p:cSldViewPr>
      <p:cViewPr varScale="1">
        <p:scale>
          <a:sx n="79" d="100"/>
          <a:sy n="79" d="100"/>
        </p:scale>
        <p:origin x="-3360" y="-96"/>
      </p:cViewPr>
      <p:guideLst>
        <p:guide orient="horz" pos="2237"/>
        <p:guide pos="3224"/>
      </p:guideLst>
    </p:cSldViewPr>
  </p:notesViewPr>
  <p:gridSpacing cx="119895" cy="11989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2" y="7"/>
            <a:ext cx="4434999" cy="354964"/>
          </a:xfrm>
          <a:prstGeom prst="rect">
            <a:avLst/>
          </a:prstGeom>
        </p:spPr>
        <p:txBody>
          <a:bodyPr vert="horz" lIns="93071" tIns="46536" rIns="93071" bIns="46536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797256" y="7"/>
            <a:ext cx="4434999" cy="354964"/>
          </a:xfrm>
          <a:prstGeom prst="rect">
            <a:avLst/>
          </a:prstGeom>
        </p:spPr>
        <p:txBody>
          <a:bodyPr vert="horz" lIns="93071" tIns="46536" rIns="93071" bIns="46536" rtlCol="0"/>
          <a:lstStyle>
            <a:lvl1pPr algn="r">
              <a:defRPr sz="1300"/>
            </a:lvl1pPr>
          </a:lstStyle>
          <a:p>
            <a:fld id="{D780D236-EBA9-4BDE-B0B8-0BC1BA3CC9EE}" type="datetimeFigureOut">
              <a:rPr lang="ko-KR" altLang="en-US" smtClean="0"/>
              <a:pPr/>
              <a:t>2024-09-22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2" y="6743107"/>
            <a:ext cx="4434999" cy="354964"/>
          </a:xfrm>
          <a:prstGeom prst="rect">
            <a:avLst/>
          </a:prstGeom>
        </p:spPr>
        <p:txBody>
          <a:bodyPr vert="horz" lIns="93071" tIns="46536" rIns="93071" bIns="46536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797256" y="6743107"/>
            <a:ext cx="4434999" cy="354964"/>
          </a:xfrm>
          <a:prstGeom prst="rect">
            <a:avLst/>
          </a:prstGeom>
        </p:spPr>
        <p:txBody>
          <a:bodyPr vert="horz" lIns="93071" tIns="46536" rIns="93071" bIns="46536" rtlCol="0" anchor="b"/>
          <a:lstStyle>
            <a:lvl1pPr algn="r">
              <a:defRPr sz="1300"/>
            </a:lvl1pPr>
          </a:lstStyle>
          <a:p>
            <a:fld id="{DF880A01-321C-4B66-8FAD-BAE655F95B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2843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2" y="7"/>
            <a:ext cx="4434999" cy="354964"/>
          </a:xfrm>
          <a:prstGeom prst="rect">
            <a:avLst/>
          </a:prstGeom>
        </p:spPr>
        <p:txBody>
          <a:bodyPr vert="horz" lIns="93071" tIns="46536" rIns="93071" bIns="46536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797256" y="7"/>
            <a:ext cx="4434999" cy="354964"/>
          </a:xfrm>
          <a:prstGeom prst="rect">
            <a:avLst/>
          </a:prstGeom>
        </p:spPr>
        <p:txBody>
          <a:bodyPr vert="horz" lIns="93071" tIns="46536" rIns="93071" bIns="46536" rtlCol="0"/>
          <a:lstStyle>
            <a:lvl1pPr algn="r">
              <a:defRPr sz="1300"/>
            </a:lvl1pPr>
          </a:lstStyle>
          <a:p>
            <a:fld id="{6EFCCE34-D780-468B-B2C5-429ACFC42CDC}" type="datetimeFigureOut">
              <a:rPr lang="ko-KR" altLang="en-US" smtClean="0"/>
              <a:pPr/>
              <a:t>2024-09-22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90875" y="531813"/>
            <a:ext cx="3852863" cy="26685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071" tIns="46536" rIns="93071" bIns="4653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3462" y="3372173"/>
            <a:ext cx="8187690" cy="3194681"/>
          </a:xfrm>
          <a:prstGeom prst="rect">
            <a:avLst/>
          </a:prstGeom>
        </p:spPr>
        <p:txBody>
          <a:bodyPr vert="horz" lIns="93071" tIns="46536" rIns="93071" bIns="46536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2" y="6743107"/>
            <a:ext cx="4434999" cy="354964"/>
          </a:xfrm>
          <a:prstGeom prst="rect">
            <a:avLst/>
          </a:prstGeom>
        </p:spPr>
        <p:txBody>
          <a:bodyPr vert="horz" lIns="93071" tIns="46536" rIns="93071" bIns="46536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797256" y="6743107"/>
            <a:ext cx="4434999" cy="354964"/>
          </a:xfrm>
          <a:prstGeom prst="rect">
            <a:avLst/>
          </a:prstGeom>
        </p:spPr>
        <p:txBody>
          <a:bodyPr vert="horz" lIns="93071" tIns="46536" rIns="93071" bIns="46536" rtlCol="0" anchor="b"/>
          <a:lstStyle>
            <a:lvl1pPr algn="r">
              <a:defRPr sz="1300"/>
            </a:lvl1pPr>
          </a:lstStyle>
          <a:p>
            <a:fld id="{6B5F4931-96B1-46A0-A126-B77E8D0577F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593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582355" y="5348760"/>
            <a:ext cx="4031590" cy="1067412"/>
          </a:xfrm>
          <a:prstGeom prst="rect">
            <a:avLst/>
          </a:prstGeom>
        </p:spPr>
        <p:txBody>
          <a:bodyPr anchor="t"/>
          <a:lstStyle>
            <a:lvl1pPr marL="0" indent="0" algn="l" defTabSz="914228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500" kern="0" spc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542055" y="1782248"/>
            <a:ext cx="7433005" cy="534546"/>
          </a:xfrm>
          <a:prstGeom prst="rect">
            <a:avLst/>
          </a:prstGeom>
        </p:spPr>
        <p:txBody>
          <a:bodyPr/>
          <a:lstStyle>
            <a:lvl1pPr marL="0" indent="0" algn="l" defTabSz="914228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2600" b="1" kern="0" spc="0" baseline="0" dirty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0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867581" y="2441196"/>
            <a:ext cx="8699752" cy="328978"/>
          </a:xfrm>
          <a:prstGeom prst="rect">
            <a:avLst/>
          </a:prstGeom>
        </p:spPr>
        <p:txBody>
          <a:bodyPr anchor="t"/>
          <a:lstStyle>
            <a:lvl1pPr marL="0" indent="0" algn="l" defTabSz="914228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500" kern="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1" name="텍스트 개체 틀 2"/>
          <p:cNvSpPr>
            <a:spLocks noGrp="1"/>
          </p:cNvSpPr>
          <p:nvPr>
            <p:ph type="body" sz="quarter" idx="12"/>
          </p:nvPr>
        </p:nvSpPr>
        <p:spPr>
          <a:xfrm>
            <a:off x="582355" y="4711197"/>
            <a:ext cx="4031590" cy="328978"/>
          </a:xfrm>
          <a:prstGeom prst="rect">
            <a:avLst/>
          </a:prstGeom>
        </p:spPr>
        <p:txBody>
          <a:bodyPr anchor="t"/>
          <a:lstStyle>
            <a:lvl1pPr marL="0" indent="0" algn="l" defTabSz="914228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500" kern="0" spc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pic>
        <p:nvPicPr>
          <p:cNvPr id="7" name="그림 6" descr="가로모티프색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6" y="2316794"/>
            <a:ext cx="8985600" cy="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내용 개체 틀 3"/>
          <p:cNvSpPr>
            <a:spLocks noGrp="1"/>
          </p:cNvSpPr>
          <p:nvPr>
            <p:ph sz="quarter" idx="12"/>
          </p:nvPr>
        </p:nvSpPr>
        <p:spPr>
          <a:xfrm>
            <a:off x="277618" y="697989"/>
            <a:ext cx="9350569" cy="734930"/>
          </a:xfrm>
          <a:prstGeom prst="rect">
            <a:avLst/>
          </a:prstGeom>
        </p:spPr>
        <p:txBody>
          <a:bodyPr tIns="72000" bIns="72000" anchor="t"/>
          <a:lstStyle>
            <a:lvl1pPr marL="0" indent="0" algn="l" defTabSz="914228" rtl="0" eaLnBrk="1" fontAlgn="base" latinLnBrk="0" hangingPunct="1">
              <a:lnSpc>
                <a:spcPct val="130000"/>
              </a:lnSpc>
              <a:buFont typeface="맑은 고딕" panose="020B0503020000020004" pitchFamily="50" charset="-127"/>
              <a:buNone/>
              <a:defRPr lang="ko-KR" altLang="en-US" sz="14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  <a:lvl2pPr marL="144000" indent="0">
              <a:lnSpc>
                <a:spcPct val="150000"/>
              </a:lnSpc>
              <a:buFont typeface="+mj-lt"/>
              <a:buNone/>
              <a:defRPr sz="1100"/>
            </a:lvl2pPr>
            <a:lvl3pPr marL="432000" indent="-171450">
              <a:lnSpc>
                <a:spcPct val="150000"/>
              </a:lnSpc>
              <a:buFont typeface="맑은 고딕" panose="020B0503020000020004" pitchFamily="50" charset="-127"/>
              <a:buChar char="–"/>
              <a:defRPr sz="1000"/>
            </a:lvl3pPr>
            <a:lvl4pPr marL="1371342" indent="0">
              <a:buNone/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  <a:endParaRPr lang="en-US" altLang="ko-KR" dirty="0"/>
          </a:p>
          <a:p>
            <a:pPr lvl="0"/>
            <a:endParaRPr lang="ko-KR" altLang="en-US" dirty="0"/>
          </a:p>
        </p:txBody>
      </p:sp>
      <p:pic>
        <p:nvPicPr>
          <p:cNvPr id="1028" name="Picture 4" descr="C:\Users\hdec\Desktop\무제-3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20" y="551520"/>
            <a:ext cx="9416432" cy="73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내용 개체 틀 3"/>
          <p:cNvSpPr>
            <a:spLocks noGrp="1"/>
          </p:cNvSpPr>
          <p:nvPr>
            <p:ph sz="quarter" idx="13"/>
          </p:nvPr>
        </p:nvSpPr>
        <p:spPr>
          <a:xfrm>
            <a:off x="157200" y="131287"/>
            <a:ext cx="4795800" cy="428700"/>
          </a:xfrm>
          <a:prstGeom prst="rect">
            <a:avLst/>
          </a:prstGeom>
        </p:spPr>
        <p:txBody>
          <a:bodyPr/>
          <a:lstStyle>
            <a:lvl1pPr marL="0" indent="0" algn="l" defTabSz="914228" rtl="0" eaLnBrk="1" fontAlgn="base" latinLnBrk="0" hangingPunct="1">
              <a:lnSpc>
                <a:spcPct val="100000"/>
              </a:lnSpc>
              <a:buFont typeface="맑은 고딕" panose="020B0503020000020004" pitchFamily="50" charset="-127"/>
              <a:buNone/>
              <a:defRPr lang="ko-KR" altLang="en-US" sz="20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  <a:lvl2pPr marL="144000" indent="0">
              <a:lnSpc>
                <a:spcPct val="150000"/>
              </a:lnSpc>
              <a:buFont typeface="+mj-lt"/>
              <a:buNone/>
              <a:defRPr sz="1100"/>
            </a:lvl2pPr>
            <a:lvl3pPr marL="432000" indent="-171450">
              <a:lnSpc>
                <a:spcPct val="150000"/>
              </a:lnSpc>
              <a:buFont typeface="맑은 고딕" panose="020B0503020000020004" pitchFamily="50" charset="-127"/>
              <a:buChar char="–"/>
              <a:defRPr sz="1000"/>
            </a:lvl3pPr>
            <a:lvl4pPr marL="1371342" indent="0">
              <a:buNone/>
              <a:defRPr sz="1200"/>
            </a:lvl4pPr>
            <a:lvl5pPr>
              <a:defRPr sz="1200"/>
            </a:lvl5pPr>
          </a:lstStyle>
          <a:p>
            <a:pPr lvl="0"/>
            <a:endParaRPr lang="ko-KR" altLang="en-US" dirty="0"/>
          </a:p>
        </p:txBody>
      </p:sp>
      <p:sp>
        <p:nvSpPr>
          <p:cNvPr id="9" name="내용 개체 틀 3"/>
          <p:cNvSpPr>
            <a:spLocks noGrp="1"/>
          </p:cNvSpPr>
          <p:nvPr>
            <p:ph sz="quarter" idx="14"/>
          </p:nvPr>
        </p:nvSpPr>
        <p:spPr>
          <a:xfrm>
            <a:off x="5068791" y="184947"/>
            <a:ext cx="4559398" cy="374625"/>
          </a:xfrm>
          <a:prstGeom prst="rect">
            <a:avLst/>
          </a:prstGeom>
        </p:spPr>
        <p:txBody>
          <a:bodyPr/>
          <a:lstStyle>
            <a:lvl1pPr marL="0" indent="0" algn="l" defTabSz="914228" rtl="0" eaLnBrk="1" fontAlgn="base" latinLnBrk="0" hangingPunct="1">
              <a:lnSpc>
                <a:spcPct val="100000"/>
              </a:lnSpc>
              <a:buFontTx/>
              <a:buNone/>
              <a:defRPr lang="ko-KR" altLang="en-US" sz="16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  <a:lvl2pPr marL="144000" indent="0">
              <a:lnSpc>
                <a:spcPct val="150000"/>
              </a:lnSpc>
              <a:buFont typeface="+mj-lt"/>
              <a:buNone/>
              <a:defRPr sz="1100"/>
            </a:lvl2pPr>
            <a:lvl3pPr marL="432000" indent="-171450">
              <a:lnSpc>
                <a:spcPct val="150000"/>
              </a:lnSpc>
              <a:buFont typeface="맑은 고딕" panose="020B0503020000020004" pitchFamily="50" charset="-127"/>
              <a:buChar char="–"/>
              <a:defRPr sz="1000"/>
            </a:lvl3pPr>
            <a:lvl4pPr marL="1371342" indent="0">
              <a:buNone/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228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36" indent="-342836" algn="l" defTabSz="914228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10" indent="-285697" algn="l" defTabSz="914228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85" indent="-228557" algn="l" defTabSz="914228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99" indent="-228557" algn="l" defTabSz="914228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013" indent="-228557" algn="l" defTabSz="914228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27" indent="-228557" algn="l" defTabSz="91422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42" indent="-228557" algn="l" defTabSz="91422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54" indent="-228557" algn="l" defTabSz="91422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69" indent="-228557" algn="l" defTabSz="91422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2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14" algn="l" defTabSz="91422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28" algn="l" defTabSz="91422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43" algn="l" defTabSz="91422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56" algn="l" defTabSz="91422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70" algn="l" defTabSz="91422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84" algn="l" defTabSz="91422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99" algn="l" defTabSz="91422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13" algn="l" defTabSz="91422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minwon.police.go.kr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mailto:visa@hec.co.kr)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.kr/url?sa=i&amp;rct=j&amp;q=&amp;esrc=s&amp;source=images&amp;cd=&amp;cad=rja&amp;uact=8&amp;ved=0ahUKEwjn1r7N8JnSAhXJOBQKHS42AqcQjRwIBw&amp;url=https://pixabay.com/ko/%EB%B9%84%ED%96%89%EA%B8%B0-%ED%95%AD%EA%B3%B5%EA%B8%B0-%EB%A1%9C%EA%B7%B8%EC%9D%B8-%EA%B8%B0%ED%98%B8-%EC%95%84%EC%9D%B4%EC%BD%98-99047/&amp;bvm=bv.147448319,d.d24&amp;psig=AFQjCNHyWcXYvOBjs6Eamd9_q-rJy7NIcA&amp;ust=1487515330753419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현장생활 가이드북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582355" y="2460995"/>
            <a:ext cx="8699752" cy="328978"/>
          </a:xfrm>
        </p:spPr>
        <p:txBody>
          <a:bodyPr/>
          <a:lstStyle/>
          <a:p>
            <a:r>
              <a:rPr lang="ko-KR" altLang="en-US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사우디 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STA1 </a:t>
            </a:r>
            <a:r>
              <a:rPr lang="ko-KR" altLang="en-US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현장</a:t>
            </a:r>
            <a:r>
              <a:rPr lang="en-US" altLang="ko-KR" sz="1200" i="1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AMIRAL PROJECT PKG - 1 (Mixed Feed Cracker and Refinery Off Gases)</a:t>
            </a:r>
            <a:endParaRPr lang="ko-KR" altLang="en-US" sz="1200" i="1" dirty="0">
              <a:solidFill>
                <a:schemeClr val="tx1">
                  <a:lumMod val="50000"/>
                  <a:lumOff val="50000"/>
                </a:schemeClr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spc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2024. 09. 22</a:t>
            </a:r>
            <a:endParaRPr lang="ko-KR" altLang="en-US" spc="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aphicFrame>
        <p:nvGraphicFramePr>
          <p:cNvPr id="16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646167"/>
              </p:ext>
            </p:extLst>
          </p:nvPr>
        </p:nvGraphicFramePr>
        <p:xfrm>
          <a:off x="8478838" y="441129"/>
          <a:ext cx="1154112" cy="756000"/>
        </p:xfrm>
        <a:graphic>
          <a:graphicData uri="http://schemas.openxmlformats.org/drawingml/2006/table">
            <a:tbl>
              <a:tblPr/>
              <a:tblGrid>
                <a:gridCol w="354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○</a:t>
                      </a:r>
                      <a:endParaRPr kumimoji="0" lang="en-US" altLang="ko-KR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의사결정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100" b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</a:t>
                      </a:r>
                      <a:endParaRPr kumimoji="0" lang="en-US" altLang="ko-KR" sz="1100" b="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정보전달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○</a:t>
                      </a:r>
                      <a:endParaRPr kumimoji="0" lang="en-US" altLang="ko-KR" sz="11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지시사항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>
          <a:xfrm>
            <a:off x="582355" y="6122142"/>
            <a:ext cx="4031590" cy="328978"/>
          </a:xfrm>
        </p:spPr>
        <p:txBody>
          <a:bodyPr/>
          <a:lstStyle/>
          <a:p>
            <a:r>
              <a:rPr lang="en-US" altLang="ko-KR" b="1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STA1 </a:t>
            </a:r>
            <a:r>
              <a:rPr lang="ko-KR" altLang="en-US" b="1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현장 관리팀 노무파트</a:t>
            </a:r>
            <a:endParaRPr lang="ko-KR" altLang="en-US" b="1" spc="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6816" y="6157091"/>
            <a:ext cx="1801372" cy="25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630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6"/>
          <p:cNvSpPr txBox="1">
            <a:spLocks/>
          </p:cNvSpPr>
          <p:nvPr/>
        </p:nvSpPr>
        <p:spPr>
          <a:xfrm>
            <a:off x="3081475" y="1938739"/>
            <a:ext cx="4410236" cy="4847321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0975" indent="-180975" algn="l" rtl="0" eaLnBrk="0" fontAlgn="base" latinLnBrk="1" hangingPunct="0">
              <a:lnSpc>
                <a:spcPct val="125000"/>
              </a:lnSpc>
              <a:spcBef>
                <a:spcPts val="96"/>
              </a:spcBef>
              <a:spcAft>
                <a:spcPct val="0"/>
              </a:spcAft>
              <a:buFont typeface="+mj-lt"/>
              <a:buAutoNum type="romanUcPeriod"/>
              <a:defRPr sz="1600" kern="1200">
                <a:solidFill>
                  <a:schemeClr val="tx1"/>
                </a:solidFill>
                <a:latin typeface="+mn-ea"/>
                <a:ea typeface="+mn-ea"/>
                <a:cs typeface="modern h midium"/>
              </a:defRPr>
            </a:lvl1pPr>
            <a:lvl2pPr marL="446088" indent="-250825" algn="l" rtl="0" eaLnBrk="0" fontAlgn="base" latinLnBrk="1" hangingPunct="0">
              <a:lnSpc>
                <a:spcPct val="125000"/>
              </a:lnSpc>
              <a:spcBef>
                <a:spcPts val="96"/>
              </a:spcBef>
              <a:spcAft>
                <a:spcPct val="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ea"/>
                <a:ea typeface="+mn-ea"/>
                <a:cs typeface="modern h midium"/>
              </a:defRPr>
            </a:lvl2pPr>
            <a:lvl3pPr marL="447675" indent="0" algn="l" defTabSz="990600" rtl="0" eaLnBrk="0" fontAlgn="base" latinLnBrk="1" hangingPunct="0">
              <a:lnSpc>
                <a:spcPct val="125000"/>
              </a:lnSpc>
              <a:spcBef>
                <a:spcPts val="96"/>
              </a:spcBef>
              <a:spcAft>
                <a:spcPct val="0"/>
              </a:spcAft>
              <a:buFont typeface="Arial" pitchFamily="34" charset="0"/>
              <a:buNone/>
              <a:tabLst/>
              <a:defRPr sz="1600" kern="1200">
                <a:solidFill>
                  <a:schemeClr val="tx1"/>
                </a:solidFill>
                <a:latin typeface="+mn-ea"/>
                <a:ea typeface="+mn-ea"/>
                <a:cs typeface="modern h midium"/>
              </a:defRPr>
            </a:lvl3pPr>
            <a:lvl4pPr marL="1257300" indent="-228600" algn="l" rtl="0" eaLnBrk="0" fontAlgn="base" latinLnBrk="1" hangingPunct="0">
              <a:lnSpc>
                <a:spcPct val="125000"/>
              </a:lnSpc>
              <a:spcBef>
                <a:spcPts val="96"/>
              </a:spcBef>
              <a:spcAft>
                <a:spcPct val="0"/>
              </a:spcAft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ea"/>
                <a:ea typeface="+mn-ea"/>
                <a:cs typeface="modern h midium"/>
              </a:defRPr>
            </a:lvl4pPr>
            <a:lvl5pPr marL="1524000" indent="-228600" algn="l" rtl="0" eaLnBrk="0" fontAlgn="base" latinLnBrk="1" hangingPunct="0">
              <a:lnSpc>
                <a:spcPct val="125000"/>
              </a:lnSpc>
              <a:spcBef>
                <a:spcPts val="96"/>
              </a:spcBef>
              <a:spcAft>
                <a:spcPct val="0"/>
              </a:spcAft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ea"/>
                <a:ea typeface="+mn-ea"/>
                <a:cs typeface="modern h midium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0" lvl="0" indent="-355600" algn="l" defTabSz="914400" rtl="0" eaLnBrk="0" fontAlgn="base" latinLnBrk="1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ko-KR" altLang="en-US" sz="1800" b="1" dirty="0">
                <a:solidFill>
                  <a:sysClr val="windowText" lastClr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비자 안내 </a:t>
            </a:r>
            <a:r>
              <a:rPr lang="en-US" altLang="ko-KR" sz="1800" b="1" dirty="0">
                <a:solidFill>
                  <a:sysClr val="windowText" lastClr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(Work, Business)</a:t>
            </a:r>
            <a:endParaRPr lang="en-US" altLang="ko-KR" sz="1800" b="1" noProof="0" dirty="0">
              <a:solidFill>
                <a:sysClr val="windowText" lastClr="00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355600" marR="0" lvl="0" indent="-355600" algn="l" defTabSz="914400" rtl="0" eaLnBrk="0" fontAlgn="base" latinLnBrk="1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Tx/>
              <a:buSzTx/>
              <a:buFont typeface="Hyundai M Hinted" pitchFamily="50" charset="-127"/>
              <a:buAutoNum type="arabicPeriod"/>
              <a:tabLst/>
              <a:defRPr/>
            </a:pPr>
            <a:endParaRPr lang="en-US" altLang="ko-KR" sz="1800" b="1" dirty="0">
              <a:solidFill>
                <a:sysClr val="windowText" lastClr="00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355600" marR="0" lvl="0" indent="-355600" algn="l" defTabSz="914400" rtl="0" eaLnBrk="0" fontAlgn="base" latinLnBrk="1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Tx/>
              <a:buSzTx/>
              <a:buFont typeface="Hyundai M Hinted" pitchFamily="50" charset="-127"/>
              <a:buAutoNum type="arabicPeriod"/>
              <a:tabLst/>
              <a:defRPr/>
            </a:pPr>
            <a:r>
              <a:rPr lang="ko-KR" altLang="en-US" sz="1800" b="1" dirty="0">
                <a:solidFill>
                  <a:sysClr val="windowText" lastClr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현장 및 숙소 위치 안내</a:t>
            </a:r>
            <a:endParaRPr lang="en-US" altLang="ko-KR" sz="1800" b="1" dirty="0">
              <a:solidFill>
                <a:sysClr val="windowText" lastClr="00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355600" marR="0" lvl="0" indent="-355600" algn="l" defTabSz="914400" rtl="0" eaLnBrk="0" fontAlgn="base" latinLnBrk="1" hangingPunct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Tx/>
              <a:buSzTx/>
              <a:buFont typeface="Hyundai M Hinted" pitchFamily="50" charset="-127"/>
              <a:buAutoNum type="arabicPeriod"/>
              <a:tabLst/>
              <a:defRPr/>
            </a:pPr>
            <a:endParaRPr lang="en-US" altLang="ko-KR" sz="1800" dirty="0">
              <a:solidFill>
                <a:sysClr val="windowText" lastClr="00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355600" lvl="0" indent="-355600" defTabSz="914400">
              <a:lnSpc>
                <a:spcPct val="100000"/>
              </a:lnSpc>
              <a:spcBef>
                <a:spcPts val="100"/>
              </a:spcBef>
              <a:buFont typeface="Hyundai M Hinted" pitchFamily="50" charset="-127"/>
              <a:buAutoNum type="arabicPeriod"/>
              <a:defRPr/>
            </a:pPr>
            <a:r>
              <a:rPr lang="ko-KR" altLang="en-US" sz="1800" b="1" dirty="0">
                <a:solidFill>
                  <a:sysClr val="windowText" lastClr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생활안내</a:t>
            </a:r>
            <a:endParaRPr lang="en-US" altLang="ko-KR" sz="1800" b="1" dirty="0">
              <a:solidFill>
                <a:sysClr val="windowText" lastClr="00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355600" lvl="0" indent="-355600" defTabSz="914400">
              <a:lnSpc>
                <a:spcPct val="100000"/>
              </a:lnSpc>
              <a:spcBef>
                <a:spcPts val="100"/>
              </a:spcBef>
              <a:buFont typeface="Hyundai M Hinted" pitchFamily="50" charset="-127"/>
              <a:buAutoNum type="arabicPeriod"/>
              <a:defRPr/>
            </a:pPr>
            <a:endParaRPr lang="en-US" altLang="ko-KR" sz="1800" b="1" dirty="0">
              <a:solidFill>
                <a:sysClr val="windowText" lastClr="00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0" lvl="0" indent="0" defTabSz="914400">
              <a:lnSpc>
                <a:spcPct val="100000"/>
              </a:lnSpc>
              <a:spcBef>
                <a:spcPts val="100"/>
              </a:spcBef>
              <a:buNone/>
              <a:defRPr/>
            </a:pPr>
            <a:r>
              <a:rPr lang="en-US" altLang="ko-KR" sz="1800" b="1" dirty="0">
                <a:solidFill>
                  <a:sysClr val="windowText" lastClr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[</a:t>
            </a:r>
            <a:r>
              <a:rPr lang="ko-KR" altLang="en-US" sz="1800" b="1" dirty="0">
                <a:solidFill>
                  <a:sysClr val="windowText" lastClr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필독</a:t>
            </a:r>
            <a:r>
              <a:rPr lang="en-US" altLang="ko-KR" sz="1800" b="1" dirty="0">
                <a:solidFill>
                  <a:sysClr val="windowText" lastClr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] </a:t>
            </a:r>
            <a:r>
              <a:rPr lang="ko-KR" altLang="en-US" sz="1800" b="1" dirty="0">
                <a:solidFill>
                  <a:sysClr val="windowText" lastClr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현장 근무 지침</a:t>
            </a:r>
            <a:endParaRPr lang="en-US" altLang="ko-KR" sz="1800" b="1" dirty="0">
              <a:solidFill>
                <a:sysClr val="windowText" lastClr="00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60377" y="1150995"/>
            <a:ext cx="827077" cy="400097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/>
          <a:p>
            <a:r>
              <a:rPr lang="ko-KR" altLang="en-US" sz="2000" b="1" dirty="0">
                <a:latin typeface="현대하모니 M" panose="02020603020101020101" pitchFamily="18" charset="-127"/>
                <a:ea typeface="현대하모니 M" panose="02020603020101020101" pitchFamily="18" charset="-127"/>
                <a:cs typeface="Arial" pitchFamily="34" charset="0"/>
              </a:rPr>
              <a:t>목 차</a:t>
            </a:r>
            <a:endParaRPr lang="ko-KR" altLang="en-US" sz="2000" b="1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2633915" y="1591753"/>
            <a:ext cx="46800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8708" y="5722863"/>
            <a:ext cx="9785388" cy="538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0">
              <a:lnSpc>
                <a:spcPct val="130000"/>
              </a:lnSpc>
            </a:pPr>
            <a:r>
              <a:rPr lang="en-US" altLang="ko-KR" sz="1200" kern="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※ </a:t>
            </a:r>
            <a:r>
              <a:rPr lang="ko-KR" altLang="en-US" sz="1200" kern="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참고사항 </a:t>
            </a:r>
            <a:endParaRPr lang="en-US" altLang="ko-KR" sz="1200" kern="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177800" indent="-177800" fontAlgn="base" latinLnBrk="0">
              <a:lnSpc>
                <a:spcPct val="130000"/>
              </a:lnSpc>
              <a:buAutoNum type="arabicPeriod"/>
            </a:pPr>
            <a:r>
              <a:rPr lang="ko-KR" altLang="en-US" sz="1200" kern="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본 가이드북 관련 변경되는 사항들은 상시 업데이트 하여 </a:t>
            </a:r>
            <a:r>
              <a:rPr lang="ko-KR" altLang="en-US" sz="1200" kern="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최신본</a:t>
            </a:r>
            <a:r>
              <a:rPr lang="ko-KR" altLang="en-US" sz="1200" kern="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공유 예정입니다</a:t>
            </a:r>
            <a:r>
              <a:rPr lang="en-US" altLang="ko-KR" sz="1200" kern="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  <a:endParaRPr lang="ko-KR" altLang="en-US" sz="1200" kern="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3287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2"/>
          </p:nvPr>
        </p:nvSpPr>
        <p:spPr>
          <a:xfrm>
            <a:off x="277618" y="697989"/>
            <a:ext cx="9350569" cy="345087"/>
          </a:xfrm>
        </p:spPr>
        <p:txBody>
          <a:bodyPr/>
          <a:lstStyle/>
          <a:p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부임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출장 및 </a:t>
            </a:r>
            <a:r>
              <a:rPr lang="en-US" altLang="ko-KR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Gatepass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필요성을 고려하여 비자 발급 신청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. 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여권 기간 유의 필요</a:t>
            </a:r>
            <a:endParaRPr lang="en-US" altLang="ko-KR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1. </a:t>
            </a:r>
            <a:r>
              <a:rPr lang="ko-KR" altLang="en-US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비자</a:t>
            </a:r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 </a:t>
            </a:r>
            <a:r>
              <a:rPr lang="ko-KR" altLang="en-US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안내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277813" y="1103544"/>
            <a:ext cx="9231197" cy="287241"/>
            <a:chOff x="6102673" y="1703288"/>
            <a:chExt cx="3239789" cy="287241"/>
          </a:xfrm>
        </p:grpSpPr>
        <p:sp>
          <p:nvSpPr>
            <p:cNvPr id="9" name="Line 58"/>
            <p:cNvSpPr>
              <a:spLocks noChangeShapeType="1"/>
            </p:cNvSpPr>
            <p:nvPr/>
          </p:nvSpPr>
          <p:spPr bwMode="gray">
            <a:xfrm>
              <a:off x="6102673" y="1990529"/>
              <a:ext cx="32397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0000" rIns="90000" anchor="ctr"/>
            <a:lstStyle/>
            <a:p>
              <a:pPr algn="ctr" latinLnBrk="0">
                <a:defRPr/>
              </a:pPr>
              <a:endParaRPr lang="ko-KR" altLang="en-US" sz="1300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10" name="Text Box 57"/>
            <p:cNvSpPr txBox="1">
              <a:spLocks noChangeArrowheads="1"/>
            </p:cNvSpPr>
            <p:nvPr/>
          </p:nvSpPr>
          <p:spPr bwMode="gray">
            <a:xfrm>
              <a:off x="6102673" y="1703288"/>
              <a:ext cx="3239788" cy="28456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46800" rIns="90000" bIns="46800">
              <a:spAutoFit/>
            </a:bodyPr>
            <a:lstStyle>
              <a:lvl1pPr marL="92075" indent="-92075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latinLnBrk="0" hangingPunct="1">
                <a:lnSpc>
                  <a:spcPct val="95000"/>
                </a:lnSpc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lang="ko-KR" altLang="en-US" sz="13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사우디아라비아 비자 </a:t>
              </a:r>
              <a:r>
                <a:rPr lang="en-US" altLang="ko-KR" sz="13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Process </a:t>
              </a:r>
              <a:r>
                <a:rPr lang="ko-KR" altLang="en-US" sz="13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개요</a:t>
              </a: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7231000" y="5968438"/>
            <a:ext cx="2517083" cy="287241"/>
            <a:chOff x="6102673" y="1703288"/>
            <a:chExt cx="3239789" cy="287241"/>
          </a:xfrm>
        </p:grpSpPr>
        <p:sp>
          <p:nvSpPr>
            <p:cNvPr id="35" name="Line 58"/>
            <p:cNvSpPr>
              <a:spLocks noChangeShapeType="1"/>
            </p:cNvSpPr>
            <p:nvPr/>
          </p:nvSpPr>
          <p:spPr bwMode="gray">
            <a:xfrm>
              <a:off x="6102673" y="1990529"/>
              <a:ext cx="32397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0000" rIns="90000" anchor="ctr"/>
            <a:lstStyle/>
            <a:p>
              <a:pPr algn="ctr" latinLnBrk="0">
                <a:defRPr/>
              </a:pPr>
              <a:endParaRPr lang="ko-KR" altLang="en-US" sz="1300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36" name="Text Box 57"/>
            <p:cNvSpPr txBox="1">
              <a:spLocks noChangeArrowheads="1"/>
            </p:cNvSpPr>
            <p:nvPr/>
          </p:nvSpPr>
          <p:spPr bwMode="gray">
            <a:xfrm>
              <a:off x="6102673" y="1703288"/>
              <a:ext cx="3239788" cy="28456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46800" rIns="90000" bIns="46800">
              <a:spAutoFit/>
            </a:bodyPr>
            <a:lstStyle>
              <a:lvl1pPr marL="92075" indent="-92075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latinLnBrk="0" hangingPunct="1">
                <a:lnSpc>
                  <a:spcPct val="95000"/>
                </a:lnSpc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lang="en-US" altLang="ko-KR" sz="13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Work Visa </a:t>
              </a:r>
              <a:r>
                <a:rPr lang="ko-KR" altLang="en-US" sz="13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발급 안내</a:t>
              </a:r>
            </a:p>
          </p:txBody>
        </p:sp>
      </p:grpSp>
      <p:sp>
        <p:nvSpPr>
          <p:cNvPr id="37" name="직사각형 36"/>
          <p:cNvSpPr/>
          <p:nvPr/>
        </p:nvSpPr>
        <p:spPr>
          <a:xfrm>
            <a:off x="7231003" y="6426375"/>
            <a:ext cx="2517079" cy="298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200" b="1" u="sng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후면 페이지 참조</a:t>
            </a:r>
            <a:endParaRPr lang="en-US" altLang="ko-KR" sz="1200" b="1" u="sng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277813" y="1542681"/>
            <a:ext cx="648000" cy="6480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300" b="1" kern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구분</a:t>
            </a:r>
          </a:p>
        </p:txBody>
      </p:sp>
      <p:graphicFrame>
        <p:nvGraphicFramePr>
          <p:cNvPr id="43" name="내용 개체 틀 10"/>
          <p:cNvGraphicFramePr>
            <a:graphicFrameLocks/>
          </p:cNvGraphicFramePr>
          <p:nvPr/>
        </p:nvGraphicFramePr>
        <p:xfrm>
          <a:off x="1094836" y="2382314"/>
          <a:ext cx="6136167" cy="1986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9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9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94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314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단기출장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(1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개월 미만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장기출장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(1~3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개월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부임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(3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개월 초과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51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Gate</a:t>
                      </a:r>
                    </a:p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Pass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필요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</a:rPr>
                        <a:t>Work Visa (</a:t>
                      </a:r>
                      <a:r>
                        <a:rPr lang="ko-KR" altLang="en-US" sz="1200" b="1" baseline="0" dirty="0">
                          <a:solidFill>
                            <a:schemeClr val="tx1"/>
                          </a:solidFill>
                        </a:rPr>
                        <a:t>취업비자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</a:rPr>
                        <a:t>Or</a:t>
                      </a:r>
                    </a:p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</a:rPr>
                        <a:t>Business Visa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Work Visa</a:t>
                      </a:r>
                    </a:p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취업비자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원칙적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ctr" latinLnBrk="1">
                        <a:lnSpc>
                          <a:spcPct val="130000"/>
                        </a:lnSpc>
                      </a:pP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</a:rPr>
                        <a:t>Business Visa</a:t>
                      </a:r>
                    </a:p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1" baseline="0" dirty="0">
                          <a:solidFill>
                            <a:schemeClr val="tx1"/>
                          </a:solidFill>
                        </a:rPr>
                        <a:t>단기간 파견 </a:t>
                      </a:r>
                      <a:r>
                        <a:rPr lang="ko-KR" altLang="en-US" sz="1200" b="1" baseline="0" dirty="0" err="1">
                          <a:solidFill>
                            <a:schemeClr val="tx1"/>
                          </a:solidFill>
                        </a:rPr>
                        <a:t>부임시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" name="타원 43"/>
          <p:cNvSpPr/>
          <p:nvPr/>
        </p:nvSpPr>
        <p:spPr>
          <a:xfrm>
            <a:off x="277813" y="4876679"/>
            <a:ext cx="648000" cy="6480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300" b="1" kern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유의</a:t>
            </a:r>
            <a:endParaRPr lang="en-US" altLang="ko-KR" sz="1300" b="1" kern="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algn="ctr" fontAlgn="base" latinLnBrk="0">
              <a:lnSpc>
                <a:spcPct val="130000"/>
              </a:lnSpc>
            </a:pPr>
            <a:r>
              <a:rPr lang="ko-KR" altLang="en-US" sz="1300" b="1" kern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사항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1037348" y="1510680"/>
            <a:ext cx="6913027" cy="598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부임</a:t>
            </a:r>
            <a:r>
              <a:rPr lang="en-US" altLang="ko-KR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출장</a:t>
            </a:r>
            <a:r>
              <a:rPr lang="en-US" altLang="ko-KR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및 </a:t>
            </a:r>
            <a:r>
              <a:rPr lang="en-US" altLang="ko-KR" sz="1200" b="1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Gatepass</a:t>
            </a:r>
            <a:r>
              <a:rPr lang="en-US" altLang="ko-KR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필요 여부에 따라 비자 선택 신청</a:t>
            </a:r>
            <a:endParaRPr lang="en-US" altLang="ko-KR" sz="12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부임 시 </a:t>
            </a:r>
            <a:r>
              <a:rPr lang="en-US" altLang="ko-KR" sz="1200" b="1" dirty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Work Visa</a:t>
            </a:r>
            <a:r>
              <a:rPr lang="ko-KR" altLang="en-US" sz="1200" b="1" dirty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가 원칙</a:t>
            </a:r>
            <a:r>
              <a:rPr lang="ko-KR" altLang="en-US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이며</a:t>
            </a:r>
            <a:r>
              <a:rPr lang="en-US" altLang="ko-KR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Business Visa</a:t>
            </a:r>
            <a:r>
              <a:rPr lang="ko-KR" altLang="en-US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는 단기간 출장</a:t>
            </a:r>
            <a:r>
              <a:rPr lang="en-US" altLang="ko-KR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파견</a:t>
            </a:r>
            <a:r>
              <a:rPr lang="en-US" altLang="ko-KR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r>
              <a:rPr lang="ko-KR" altLang="en-US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시 사전 승인을 득하여 신청</a:t>
            </a:r>
            <a:endParaRPr lang="en-US" altLang="ko-KR" sz="12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1037349" y="4794479"/>
            <a:ext cx="4155441" cy="830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여권 기간 확인 필요 </a:t>
            </a:r>
            <a:r>
              <a:rPr lang="en-US" altLang="ko-KR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복수 여권 필수</a:t>
            </a:r>
            <a:r>
              <a:rPr lang="en-US" altLang="ko-KR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- Work Visa :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최소 유효기간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18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개월 이상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양면에 빈 사증 必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- Business Visa :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최소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6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개월 이상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양면에 빈 사증 必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893726" y="5586928"/>
            <a:ext cx="6068434" cy="312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3662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※ </a:t>
            </a:r>
            <a:r>
              <a:rPr lang="ko-KR" altLang="en-US" sz="11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단수여권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or 6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개월 미만 도착 시 공항에서 입국을 하지 못하고 강제 귀환 조치 발생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893726" y="4443919"/>
            <a:ext cx="6068434" cy="312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3662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※ </a:t>
            </a:r>
            <a:r>
              <a:rPr lang="en-US" altLang="ko-KR" sz="11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Gatepass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: Site </a:t>
            </a:r>
            <a:r>
              <a:rPr lang="ko-KR" altLang="en-US" sz="11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공사수행을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위한 </a:t>
            </a:r>
            <a:r>
              <a:rPr lang="ko-KR" altLang="en-US" sz="11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공사지역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출입증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0958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/>
        </p:nvSpPr>
        <p:spPr>
          <a:xfrm>
            <a:off x="4964744" y="3284418"/>
            <a:ext cx="4784056" cy="641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/>
            <a:endParaRPr lang="ko-KR" altLang="en-US" sz="1200" kern="0" dirty="0">
              <a:solidFill>
                <a:schemeClr val="tx1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964744" y="2347652"/>
            <a:ext cx="4784056" cy="641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/>
            <a:endParaRPr lang="ko-KR" altLang="en-US" sz="1200" kern="0" dirty="0">
              <a:solidFill>
                <a:schemeClr val="tx1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812518" y="4195197"/>
            <a:ext cx="8512545" cy="2529243"/>
          </a:xfrm>
          <a:prstGeom prst="rect">
            <a:avLst/>
          </a:prstGeom>
          <a:pattFill prst="dash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/>
            <a:endParaRPr lang="ko-KR" altLang="en-US" sz="1200" kern="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WORK 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비자 프로세스는 복잡하고 시간이 많이 소요되며 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출국 전 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2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개월 소요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), 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부임자는 사전 확인 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건강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여권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범죄경력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연령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), Visa 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발급 신청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부임 전 관련서류 인증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검토 및 여권에 비자 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Stamping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을 진행 후 부임해야 함</a:t>
            </a:r>
            <a:endParaRPr lang="en-US" altLang="ko-KR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1. </a:t>
            </a:r>
            <a:r>
              <a:rPr lang="ko-KR" altLang="en-US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비자 안내</a:t>
            </a:r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 - WORK Visa</a:t>
            </a:r>
            <a:endParaRPr lang="ko-KR" altLang="en-US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4" name="내용 개체 틀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1) </a:t>
            </a:r>
            <a:r>
              <a:rPr lang="ko-KR" altLang="en-US">
                <a:latin typeface="현대하모니 B" panose="02020603020101020101" pitchFamily="18" charset="-127"/>
                <a:ea typeface="현대하모니 B" panose="02020603020101020101" pitchFamily="18" charset="-127"/>
              </a:rPr>
              <a:t>비자 </a:t>
            </a:r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Process </a:t>
            </a:r>
            <a:r>
              <a:rPr lang="ko-KR" altLang="en-US">
                <a:latin typeface="현대하모니 B" panose="02020603020101020101" pitchFamily="18" charset="-127"/>
                <a:ea typeface="현대하모니 B" panose="02020603020101020101" pitchFamily="18" charset="-127"/>
              </a:rPr>
              <a:t>개요</a:t>
            </a:r>
            <a:endParaRPr lang="ko-KR" altLang="en-US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7094" y="2397396"/>
            <a:ext cx="1188000" cy="719370"/>
          </a:xfrm>
          <a:prstGeom prst="homePlate">
            <a:avLst>
              <a:gd name="adj" fmla="val 22491"/>
            </a:avLst>
          </a:prstGeom>
          <a:solidFill>
            <a:schemeClr val="tx2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400" b="1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WORK Visa</a:t>
            </a:r>
          </a:p>
          <a:p>
            <a:pPr algn="ctr">
              <a:lnSpc>
                <a:spcPct val="120000"/>
              </a:lnSpc>
            </a:pPr>
            <a:r>
              <a:rPr lang="ko-KR" altLang="en-US" sz="1400" b="1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발급 신청</a:t>
            </a:r>
            <a:endParaRPr lang="ko-KR" altLang="en-US" sz="1400" dirty="0">
              <a:solidFill>
                <a:schemeClr val="bg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36884" y="2397396"/>
            <a:ext cx="1188000" cy="719370"/>
          </a:xfrm>
          <a:prstGeom prst="homePlate">
            <a:avLst>
              <a:gd name="adj" fmla="val 22491"/>
            </a:avLst>
          </a:prstGeom>
          <a:solidFill>
            <a:schemeClr val="tx2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400" b="1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관련 서류</a:t>
            </a:r>
            <a:endParaRPr lang="en-US" altLang="ko-KR" sz="1400" b="1" dirty="0">
              <a:solidFill>
                <a:schemeClr val="bg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1400" b="1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발급</a:t>
            </a:r>
            <a:r>
              <a:rPr lang="en-US" altLang="ko-KR" sz="1400" b="1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400" b="1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구비</a:t>
            </a:r>
            <a:endParaRPr lang="en-US" altLang="ko-KR" sz="1400" b="1" dirty="0">
              <a:solidFill>
                <a:schemeClr val="bg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algn="ctr">
              <a:lnSpc>
                <a:spcPct val="120000"/>
              </a:lnSpc>
            </a:pPr>
            <a:r>
              <a:rPr lang="en-US" altLang="ko-KR" sz="1400" b="1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(EPOA </a:t>
            </a:r>
            <a:r>
              <a:rPr lang="ko-KR" altLang="en-US" sz="1400" b="1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등</a:t>
            </a:r>
            <a:r>
              <a:rPr lang="en-US" altLang="ko-KR" sz="1400" b="1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endParaRPr lang="ko-KR" altLang="en-US" sz="1400" dirty="0">
              <a:solidFill>
                <a:schemeClr val="bg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94772" y="2397396"/>
            <a:ext cx="2054897" cy="719370"/>
          </a:xfrm>
          <a:prstGeom prst="homePlate">
            <a:avLst>
              <a:gd name="adj" fmla="val 22491"/>
            </a:avLst>
          </a:prstGeom>
          <a:solidFill>
            <a:schemeClr val="tx2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400" b="1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서류 인증</a:t>
            </a:r>
            <a:r>
              <a:rPr lang="en-US" altLang="ko-KR" sz="1400" b="1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400" b="1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검토 및</a:t>
            </a:r>
            <a:endParaRPr lang="en-US" altLang="ko-KR" sz="1400" b="1" dirty="0">
              <a:solidFill>
                <a:schemeClr val="bg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algn="ctr">
              <a:lnSpc>
                <a:spcPct val="120000"/>
              </a:lnSpc>
            </a:pPr>
            <a:r>
              <a:rPr lang="en-US" altLang="ko-KR" sz="1400" b="1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WORK Visa Stamping</a:t>
            </a:r>
            <a:endParaRPr lang="ko-KR" altLang="en-US" sz="1400" dirty="0">
              <a:solidFill>
                <a:schemeClr val="bg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277814" y="1390785"/>
            <a:ext cx="9350374" cy="287241"/>
            <a:chOff x="6102673" y="1703288"/>
            <a:chExt cx="3239789" cy="287241"/>
          </a:xfrm>
        </p:grpSpPr>
        <p:sp>
          <p:nvSpPr>
            <p:cNvPr id="9" name="Line 58"/>
            <p:cNvSpPr>
              <a:spLocks noChangeShapeType="1"/>
            </p:cNvSpPr>
            <p:nvPr/>
          </p:nvSpPr>
          <p:spPr bwMode="gray">
            <a:xfrm>
              <a:off x="6102673" y="1990529"/>
              <a:ext cx="32397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0000" rIns="90000" anchor="ctr"/>
            <a:lstStyle/>
            <a:p>
              <a:pPr algn="ctr" latinLnBrk="0">
                <a:defRPr/>
              </a:pPr>
              <a:endParaRPr lang="ko-KR" altLang="en-US" sz="1300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10" name="Text Box 57"/>
            <p:cNvSpPr txBox="1">
              <a:spLocks noChangeArrowheads="1"/>
            </p:cNvSpPr>
            <p:nvPr/>
          </p:nvSpPr>
          <p:spPr bwMode="gray">
            <a:xfrm>
              <a:off x="6102673" y="1703288"/>
              <a:ext cx="3239788" cy="28456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46800" rIns="90000" bIns="46800">
              <a:spAutoFit/>
            </a:bodyPr>
            <a:lstStyle>
              <a:lvl1pPr marL="92075" indent="-92075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latinLnBrk="0" hangingPunct="1">
                <a:lnSpc>
                  <a:spcPct val="95000"/>
                </a:lnSpc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lang="en-US" altLang="ko-KR" sz="13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WORK</a:t>
              </a:r>
              <a:r>
                <a:rPr lang="ko-KR" altLang="en-US" sz="13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비자 </a:t>
              </a:r>
              <a:r>
                <a:rPr lang="en-US" altLang="ko-KR" sz="13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Process </a:t>
              </a:r>
              <a:r>
                <a:rPr lang="ko-KR" altLang="en-US" sz="13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개요</a:t>
              </a:r>
            </a:p>
          </p:txBody>
        </p:sp>
      </p:grpSp>
      <p:cxnSp>
        <p:nvCxnSpPr>
          <p:cNvPr id="14" name="직선 연결선 13"/>
          <p:cNvCxnSpPr/>
          <p:nvPr/>
        </p:nvCxnSpPr>
        <p:spPr>
          <a:xfrm>
            <a:off x="277813" y="2035807"/>
            <a:ext cx="457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5056185" y="2037943"/>
            <a:ext cx="457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038409" y="1804974"/>
            <a:ext cx="1034100" cy="461665"/>
          </a:xfrm>
          <a:prstGeom prst="rect">
            <a:avLst/>
          </a:prstGeom>
          <a:solidFill>
            <a:schemeClr val="bg1"/>
          </a:solidFill>
        </p:spPr>
        <p:txBody>
          <a:bodyPr wrap="square" lIns="36000" rIns="36000" rtlCol="0">
            <a:spAutoFit/>
          </a:bodyPr>
          <a:lstStyle/>
          <a:p>
            <a:pPr algn="ctr"/>
            <a:r>
              <a:rPr lang="ko-KR" altLang="en-US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한국 출국 전</a:t>
            </a:r>
            <a:endParaRPr lang="en-US" altLang="ko-KR" sz="12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algn="ctr"/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(2</a:t>
            </a:r>
            <a:r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달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소요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endParaRPr lang="ko-KR" altLang="en-US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93555" y="1804974"/>
            <a:ext cx="1313967" cy="461665"/>
          </a:xfrm>
          <a:prstGeom prst="rect">
            <a:avLst/>
          </a:prstGeom>
          <a:solidFill>
            <a:schemeClr val="bg1"/>
          </a:solidFill>
        </p:spPr>
        <p:txBody>
          <a:bodyPr wrap="square" lIns="36000" rIns="36000" rtlCol="0">
            <a:spAutoFit/>
          </a:bodyPr>
          <a:lstStyle/>
          <a:p>
            <a:pPr algn="ctr"/>
            <a:r>
              <a:rPr lang="ko-KR" altLang="en-US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사우디 입국 후</a:t>
            </a:r>
            <a:br>
              <a:rPr lang="en-US" altLang="ko-KR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</a:b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약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1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달 소요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endParaRPr lang="ko-KR" altLang="en-US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56185" y="2495269"/>
            <a:ext cx="864000" cy="432000"/>
          </a:xfrm>
          <a:prstGeom prst="homePlate">
            <a:avLst>
              <a:gd name="adj" fmla="val 22491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36000" rIns="0" bIns="3600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GOSI</a:t>
            </a:r>
          </a:p>
          <a:p>
            <a:pPr algn="ctr">
              <a:lnSpc>
                <a:spcPct val="110000"/>
              </a:lnSpc>
            </a:pP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Registration</a:t>
            </a:r>
            <a:endParaRPr lang="ko-KR" altLang="en-US" sz="11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79769" y="2495269"/>
            <a:ext cx="864000" cy="432000"/>
          </a:xfrm>
          <a:prstGeom prst="homePlate">
            <a:avLst>
              <a:gd name="adj" fmla="val 22491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36000" rIns="0" bIns="3600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Medical</a:t>
            </a:r>
          </a:p>
          <a:p>
            <a:pPr algn="ctr">
              <a:lnSpc>
                <a:spcPct val="110000"/>
              </a:lnSpc>
            </a:pP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Test</a:t>
            </a:r>
            <a:endParaRPr lang="ko-KR" altLang="en-US" sz="11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964743" y="3891880"/>
            <a:ext cx="4814094" cy="272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0">
              <a:lnSpc>
                <a:spcPct val="130000"/>
              </a:lnSpc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* 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부임 후 사우디 지사</a:t>
            </a: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현장 주관 안내 및 진행 예정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9125" y="4193919"/>
            <a:ext cx="4814094" cy="372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0">
              <a:lnSpc>
                <a:spcPct val="130000"/>
              </a:lnSpc>
            </a:pPr>
            <a:r>
              <a:rPr lang="en-US" altLang="ko-KR" sz="14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[ </a:t>
            </a:r>
            <a:r>
              <a:rPr lang="ko-KR" altLang="en-US" sz="14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부임자 준비사항 요약 </a:t>
            </a:r>
            <a:r>
              <a:rPr lang="en-US" altLang="ko-KR" sz="14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]</a:t>
            </a:r>
            <a:endParaRPr lang="ko-KR" altLang="en-US" sz="1400" b="1" kern="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382554" y="4495320"/>
            <a:ext cx="7822614" cy="2167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사전 확인 </a:t>
            </a:r>
            <a:endParaRPr lang="en-US" altLang="ko-KR" sz="14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355600" lvl="1" indent="-177800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-"/>
              <a:tabLst>
                <a:tab pos="355600" algn="l"/>
              </a:tabLst>
            </a:pP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필수 건강 검진 항목</a:t>
            </a: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복수여권 </a:t>
            </a:r>
            <a:r>
              <a:rPr lang="ko-KR" altLang="en-US" sz="14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만료기간</a:t>
            </a: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(18</a:t>
            </a: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개월 이상</a:t>
            </a: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), </a:t>
            </a: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범죄 경력</a:t>
            </a: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연령 </a:t>
            </a: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만 </a:t>
            </a: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60</a:t>
            </a: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세 미만</a:t>
            </a: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endParaRPr lang="en-US" altLang="ko-KR" sz="14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77800" indent="-177800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ko-KR" sz="14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WORK Visa </a:t>
            </a:r>
            <a:r>
              <a:rPr lang="ko-KR" altLang="en-US" sz="14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발급 필요 서류 제출 </a:t>
            </a:r>
            <a:endParaRPr lang="en-US" altLang="ko-KR" sz="14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355600" lvl="1" indent="-177800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-"/>
              <a:tabLst>
                <a:tab pos="355600" algn="l"/>
              </a:tabLst>
            </a:pP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여권 사본</a:t>
            </a: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영문졸업</a:t>
            </a: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성적 증명서 사우디 지사 송부 → </a:t>
            </a: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Authorization, </a:t>
            </a: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현지</a:t>
            </a: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4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영문계약서</a:t>
            </a: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E-POA </a:t>
            </a: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발급</a:t>
            </a:r>
            <a:endParaRPr lang="en-US" altLang="ko-KR" sz="14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77800" indent="-177800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관련 서류 인증</a:t>
            </a:r>
            <a:r>
              <a:rPr lang="en-US" altLang="ko-KR" sz="14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4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검토 및 </a:t>
            </a:r>
            <a:r>
              <a:rPr lang="en-US" altLang="ko-KR" sz="14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WORK Visa Stamping</a:t>
            </a:r>
          </a:p>
          <a:p>
            <a:pPr marL="355600" lvl="1" indent="-177800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-"/>
              <a:tabLst>
                <a:tab pos="355600" algn="l"/>
              </a:tabLst>
            </a:pP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현지 </a:t>
            </a:r>
            <a:r>
              <a:rPr lang="ko-KR" altLang="en-US" sz="14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영문계약서</a:t>
            </a: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 졸업</a:t>
            </a: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성적증명서</a:t>
            </a: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범죄</a:t>
            </a: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·</a:t>
            </a: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수사경력회보서</a:t>
            </a: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건강검진결과 등 인증 및 적정성 검토</a:t>
            </a:r>
            <a:endParaRPr lang="en-US" altLang="ko-KR" sz="14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355600" lvl="1" indent="-177800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-"/>
              <a:tabLst>
                <a:tab pos="355600" algn="l"/>
              </a:tabLst>
            </a:pPr>
            <a:r>
              <a:rPr lang="ko-KR" altLang="en-US" sz="14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아포스티유</a:t>
            </a: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가능 서류 </a:t>
            </a:r>
            <a:r>
              <a:rPr lang="ko-KR" altLang="en-US" sz="14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아포스티유</a:t>
            </a: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인증 진행 </a:t>
            </a:r>
            <a:endParaRPr lang="en-US" altLang="ko-KR" sz="14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1" name="타원 30"/>
          <p:cNvSpPr/>
          <p:nvPr/>
        </p:nvSpPr>
        <p:spPr>
          <a:xfrm>
            <a:off x="1318123" y="4582870"/>
            <a:ext cx="252000" cy="2520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/>
            <a:r>
              <a:rPr lang="en-US" altLang="ko-KR" sz="1100" b="1" kern="0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1</a:t>
            </a:r>
            <a:endParaRPr lang="ko-KR" altLang="en-US" sz="1100" b="1" kern="0" dirty="0">
              <a:solidFill>
                <a:schemeClr val="bg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2" name="타원 31"/>
          <p:cNvSpPr/>
          <p:nvPr/>
        </p:nvSpPr>
        <p:spPr>
          <a:xfrm>
            <a:off x="1318123" y="5158603"/>
            <a:ext cx="252000" cy="2520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/>
            <a:r>
              <a:rPr lang="en-US" altLang="ko-KR" sz="1100" b="1" kern="0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2</a:t>
            </a:r>
            <a:endParaRPr lang="ko-KR" altLang="en-US" sz="1100" b="1" kern="0" dirty="0">
              <a:solidFill>
                <a:schemeClr val="bg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1318123" y="5776669"/>
            <a:ext cx="252000" cy="2520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/>
            <a:r>
              <a:rPr lang="en-US" altLang="ko-KR" sz="1100" b="1" kern="0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3</a:t>
            </a:r>
            <a:endParaRPr lang="ko-KR" altLang="en-US" sz="1100" b="1" kern="0" dirty="0">
              <a:solidFill>
                <a:schemeClr val="bg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906039" y="2491459"/>
            <a:ext cx="864000" cy="432000"/>
          </a:xfrm>
          <a:prstGeom prst="homePlate">
            <a:avLst>
              <a:gd name="adj" fmla="val 22491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36000" rIns="0" bIns="3600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Health Insurance</a:t>
            </a:r>
            <a:endParaRPr lang="ko-KR" altLang="en-US" sz="11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832309" y="2491459"/>
            <a:ext cx="864000" cy="432000"/>
          </a:xfrm>
          <a:prstGeom prst="homePlate">
            <a:avLst>
              <a:gd name="adj" fmla="val 22491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36000" rIns="0" bIns="3600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SCE</a:t>
            </a:r>
          </a:p>
          <a:p>
            <a:pPr algn="ctr">
              <a:lnSpc>
                <a:spcPct val="110000"/>
              </a:lnSpc>
            </a:pP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Registration</a:t>
            </a:r>
            <a:endParaRPr lang="ko-KR" altLang="en-US" sz="11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56185" y="3404136"/>
            <a:ext cx="1080000" cy="432000"/>
          </a:xfrm>
          <a:prstGeom prst="homePlate">
            <a:avLst>
              <a:gd name="adj" fmla="val 22491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36000" rIns="0" bIns="3600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GOSI</a:t>
            </a:r>
          </a:p>
          <a:p>
            <a:pPr algn="ctr">
              <a:lnSpc>
                <a:spcPct val="110000"/>
              </a:lnSpc>
            </a:pP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Registration</a:t>
            </a:r>
            <a:endParaRPr lang="ko-KR" altLang="en-US" sz="11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220989" y="3404136"/>
            <a:ext cx="1080000" cy="432000"/>
          </a:xfrm>
          <a:prstGeom prst="homePlate">
            <a:avLst>
              <a:gd name="adj" fmla="val 22491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36000" rIns="0" bIns="3600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Medical</a:t>
            </a:r>
          </a:p>
          <a:p>
            <a:pPr algn="ctr">
              <a:lnSpc>
                <a:spcPct val="110000"/>
              </a:lnSpc>
            </a:pP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Test</a:t>
            </a:r>
            <a:endParaRPr lang="ko-KR" altLang="en-US" sz="11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385793" y="3400326"/>
            <a:ext cx="1080000" cy="432000"/>
          </a:xfrm>
          <a:prstGeom prst="homePlate">
            <a:avLst>
              <a:gd name="adj" fmla="val 22491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36000" rIns="0" bIns="3600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Health Insurance</a:t>
            </a:r>
            <a:endParaRPr lang="ko-KR" altLang="en-US" sz="11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542579" y="3400326"/>
            <a:ext cx="1080000" cy="432000"/>
          </a:xfrm>
          <a:prstGeom prst="homePlate">
            <a:avLst>
              <a:gd name="adj" fmla="val 22491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36000" rIns="0" bIns="3600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Work Permit</a:t>
            </a:r>
          </a:p>
          <a:p>
            <a:pPr algn="ctr">
              <a:lnSpc>
                <a:spcPct val="110000"/>
              </a:lnSpc>
            </a:pP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&amp; Iqama</a:t>
            </a:r>
            <a:endParaRPr lang="ko-KR" altLang="en-US" sz="11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758579" y="2494469"/>
            <a:ext cx="864000" cy="432000"/>
          </a:xfrm>
          <a:prstGeom prst="homePlate">
            <a:avLst>
              <a:gd name="adj" fmla="val 22491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36000" rIns="0" bIns="3600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Work Permit</a:t>
            </a:r>
          </a:p>
          <a:p>
            <a:pPr algn="ctr">
              <a:lnSpc>
                <a:spcPct val="110000"/>
              </a:lnSpc>
            </a:pP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&amp; Iqama</a:t>
            </a:r>
            <a:endParaRPr lang="ko-KR" altLang="en-US" sz="11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997995" y="2121580"/>
            <a:ext cx="849600" cy="31024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/>
            <a:r>
              <a:rPr lang="en-US" altLang="ko-KR" sz="1100" b="1" kern="0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Engineer Visa</a:t>
            </a:r>
            <a:endParaRPr lang="ko-KR" altLang="en-US" sz="1100" b="1" kern="0" dirty="0">
              <a:solidFill>
                <a:schemeClr val="bg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997995" y="3031246"/>
            <a:ext cx="849600" cy="310247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/>
            <a:r>
              <a:rPr lang="en-US" altLang="ko-KR" sz="1200" b="1" kern="0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Normal</a:t>
            </a:r>
            <a:endParaRPr lang="ko-KR" altLang="en-US" sz="1200" b="1" kern="0" dirty="0">
              <a:solidFill>
                <a:schemeClr val="bg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940392" y="2138116"/>
            <a:ext cx="3891537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 latinLnBrk="0">
              <a:lnSpc>
                <a:spcPct val="130000"/>
              </a:lnSpc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* SCE(Saudi Council of Engineers)</a:t>
            </a:r>
            <a:endParaRPr lang="ko-KR" altLang="en-US" sz="900" kern="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020207" y="6466204"/>
            <a:ext cx="4304856" cy="247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 latinLnBrk="0">
              <a:lnSpc>
                <a:spcPct val="130000"/>
              </a:lnSpc>
            </a:pP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* </a:t>
            </a:r>
            <a:r>
              <a:rPr lang="ko-KR" altLang="en-US" sz="900" kern="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아포스티유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9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9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우리나라 외교부 인증만으로 사우디 대사관 인증 효력 有</a:t>
            </a:r>
          </a:p>
        </p:txBody>
      </p:sp>
    </p:spTree>
    <p:extLst>
      <p:ext uri="{BB962C8B-B14F-4D97-AF65-F5344CB8AC3E}">
        <p14:creationId xmlns:p14="http://schemas.microsoft.com/office/powerpoint/2010/main" val="2899786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Work Visa 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신청 전 건강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여권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범죄경력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연령에 대해 사전에 반드시 확인 후 신청</a:t>
            </a:r>
          </a:p>
        </p:txBody>
      </p:sp>
      <p:graphicFrame>
        <p:nvGraphicFramePr>
          <p:cNvPr id="19" name="내용 개체 틀 18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296107958"/>
              </p:ext>
            </p:extLst>
          </p:nvPr>
        </p:nvGraphicFramePr>
        <p:xfrm>
          <a:off x="277813" y="2709630"/>
          <a:ext cx="2876550" cy="217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7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No.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7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B</a:t>
                      </a:r>
                      <a:r>
                        <a:rPr lang="ko-KR" altLang="en-US" sz="1100" b="0" dirty="0">
                          <a:latin typeface="+mn-ea"/>
                          <a:ea typeface="+mn-ea"/>
                        </a:rPr>
                        <a:t>형 감염</a:t>
                      </a:r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(HBs Ag)</a:t>
                      </a:r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항체 보유자 </a:t>
                      </a:r>
                      <a:r>
                        <a:rPr lang="ko-KR" altLang="en-US" sz="900" b="1" u="sng" dirty="0">
                          <a:solidFill>
                            <a:srgbClr val="0000C8"/>
                          </a:solidFill>
                          <a:latin typeface="+mn-ea"/>
                          <a:ea typeface="+mn-ea"/>
                        </a:rPr>
                        <a:t>가능</a:t>
                      </a:r>
                      <a:endParaRPr lang="en-US" altLang="ko-KR" sz="900" b="1" u="sng" dirty="0">
                        <a:solidFill>
                          <a:srgbClr val="0000C8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항원 보유자 </a:t>
                      </a:r>
                      <a:r>
                        <a:rPr lang="ko-KR" altLang="en-US" sz="900" b="1" u="sng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불가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7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22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C</a:t>
                      </a:r>
                      <a:r>
                        <a:rPr lang="ko-KR" altLang="en-US" sz="1100" dirty="0">
                          <a:latin typeface="맑은 고딕" pitchFamily="50" charset="-127"/>
                          <a:ea typeface="맑은 고딕" pitchFamily="50" charset="-127"/>
                        </a:rPr>
                        <a:t>형 감염</a:t>
                      </a:r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(HCV ab)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7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AIDS</a:t>
                      </a:r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7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22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Syphilis(</a:t>
                      </a:r>
                      <a:r>
                        <a:rPr lang="ko-KR" altLang="en-US" sz="1100" dirty="0">
                          <a:latin typeface="맑은 고딕" pitchFamily="50" charset="-127"/>
                          <a:ea typeface="맑은 고딕" pitchFamily="50" charset="-127"/>
                        </a:rPr>
                        <a:t>매독</a:t>
                      </a:r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7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22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err="1">
                          <a:latin typeface="맑은 고딕" pitchFamily="50" charset="-127"/>
                          <a:ea typeface="맑은 고딕" pitchFamily="50" charset="-127"/>
                        </a:rPr>
                        <a:t>필라리아</a:t>
                      </a:r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en-US" altLang="ko-KR" sz="1100" dirty="0" err="1">
                          <a:latin typeface="맑은 고딕" pitchFamily="50" charset="-127"/>
                          <a:ea typeface="맑은 고딕" pitchFamily="50" charset="-127"/>
                        </a:rPr>
                        <a:t>Filariasis</a:t>
                      </a:r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7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itchFamily="50" charset="-127"/>
                          <a:ea typeface="맑은 고딕" pitchFamily="50" charset="-127"/>
                        </a:rPr>
                        <a:t>말라리아</a:t>
                      </a:r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(Malaria) </a:t>
                      </a:r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7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itchFamily="50" charset="-127"/>
                          <a:ea typeface="맑은 고딕" pitchFamily="50" charset="-127"/>
                        </a:rPr>
                        <a:t>흉부 </a:t>
                      </a:r>
                      <a:r>
                        <a:rPr lang="en-US" altLang="ko-KR" sz="1100" dirty="0">
                          <a:latin typeface="맑은 고딕" pitchFamily="50" charset="-127"/>
                          <a:ea typeface="맑은 고딕" pitchFamily="50" charset="-127"/>
                        </a:rPr>
                        <a:t>X-ray</a:t>
                      </a:r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+mn-ea"/>
                          <a:ea typeface="+mn-ea"/>
                        </a:rPr>
                        <a:t>매우 엄격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7397198"/>
                  </a:ext>
                </a:extLst>
              </a:tr>
              <a:tr h="2397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맑은 고딕" pitchFamily="50" charset="-127"/>
                          <a:ea typeface="맑은 고딕" pitchFamily="50" charset="-127"/>
                        </a:rPr>
                        <a:t>원숭이두창</a:t>
                      </a:r>
                      <a:r>
                        <a:rPr lang="en-US" altLang="ko-KR" sz="1100" b="0" dirty="0">
                          <a:latin typeface="맑은 고딕" pitchFamily="50" charset="-127"/>
                          <a:ea typeface="맑은 고딕" pitchFamily="50" charset="-127"/>
                        </a:rPr>
                        <a:t>(M-POX)</a:t>
                      </a:r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5" name="그룹 4"/>
          <p:cNvGrpSpPr/>
          <p:nvPr/>
        </p:nvGrpSpPr>
        <p:grpSpPr>
          <a:xfrm>
            <a:off x="277814" y="1566190"/>
            <a:ext cx="2876761" cy="287241"/>
            <a:chOff x="6102673" y="1703288"/>
            <a:chExt cx="3239789" cy="287241"/>
          </a:xfrm>
        </p:grpSpPr>
        <p:sp>
          <p:nvSpPr>
            <p:cNvPr id="6" name="Line 58"/>
            <p:cNvSpPr>
              <a:spLocks noChangeShapeType="1"/>
            </p:cNvSpPr>
            <p:nvPr/>
          </p:nvSpPr>
          <p:spPr bwMode="gray">
            <a:xfrm>
              <a:off x="6102673" y="1990529"/>
              <a:ext cx="32397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0000" rIns="90000" anchor="ctr"/>
            <a:lstStyle/>
            <a:p>
              <a:pPr algn="ctr" latinLnBrk="0">
                <a:defRPr/>
              </a:pPr>
              <a:endParaRPr lang="ko-KR" altLang="en-US" sz="1300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7" name="Text Box 57"/>
            <p:cNvSpPr txBox="1">
              <a:spLocks noChangeArrowheads="1"/>
            </p:cNvSpPr>
            <p:nvPr/>
          </p:nvSpPr>
          <p:spPr bwMode="gray">
            <a:xfrm>
              <a:off x="6102673" y="1703288"/>
              <a:ext cx="3239788" cy="28456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46800" rIns="90000" bIns="46800">
              <a:spAutoFit/>
            </a:bodyPr>
            <a:lstStyle>
              <a:lvl1pPr marL="92075" indent="-92075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latinLnBrk="0" hangingPunct="1">
                <a:lnSpc>
                  <a:spcPct val="95000"/>
                </a:lnSpc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lang="ko-KR" altLang="en-US" sz="13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건강</a:t>
              </a:r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277814" y="1991783"/>
            <a:ext cx="2876549" cy="624417"/>
          </a:xfrm>
          <a:prstGeom prst="rect">
            <a:avLst/>
          </a:prstGeom>
          <a:solidFill>
            <a:schemeClr val="tx2"/>
          </a:solidFill>
        </p:spPr>
        <p:txBody>
          <a:bodyPr wrap="square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300" b="1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사우디 건강 검진 필수 항목 중 </a:t>
            </a:r>
            <a:r>
              <a:rPr lang="en-US" altLang="ko-KR" sz="1300" b="1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1</a:t>
            </a:r>
            <a:r>
              <a:rPr lang="ko-KR" altLang="en-US" sz="1300" b="1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개라도 이상 있을 시 비자 발급 불가</a:t>
            </a:r>
            <a:endParaRPr lang="en-US" altLang="ko-KR" sz="1300" b="1" dirty="0">
              <a:solidFill>
                <a:schemeClr val="bg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3496029" y="1566190"/>
            <a:ext cx="2876761" cy="287241"/>
            <a:chOff x="6102673" y="1703288"/>
            <a:chExt cx="3239789" cy="287241"/>
          </a:xfrm>
        </p:grpSpPr>
        <p:sp>
          <p:nvSpPr>
            <p:cNvPr id="13" name="Line 58"/>
            <p:cNvSpPr>
              <a:spLocks noChangeShapeType="1"/>
            </p:cNvSpPr>
            <p:nvPr/>
          </p:nvSpPr>
          <p:spPr bwMode="gray">
            <a:xfrm>
              <a:off x="6102673" y="1990529"/>
              <a:ext cx="32397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0000" rIns="90000" anchor="ctr"/>
            <a:lstStyle/>
            <a:p>
              <a:pPr algn="ctr" latinLnBrk="0">
                <a:defRPr/>
              </a:pPr>
              <a:endParaRPr lang="ko-KR" altLang="en-US" sz="1300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14" name="Text Box 57"/>
            <p:cNvSpPr txBox="1">
              <a:spLocks noChangeArrowheads="1"/>
            </p:cNvSpPr>
            <p:nvPr/>
          </p:nvSpPr>
          <p:spPr bwMode="gray">
            <a:xfrm>
              <a:off x="6102673" y="1703288"/>
              <a:ext cx="3239788" cy="28456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46800" rIns="90000" bIns="46800">
              <a:spAutoFit/>
            </a:bodyPr>
            <a:lstStyle>
              <a:lvl1pPr marL="92075" indent="-92075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latinLnBrk="0" hangingPunct="1">
                <a:lnSpc>
                  <a:spcPct val="95000"/>
                </a:lnSpc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lang="ko-KR" altLang="en-US" sz="13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여권</a:t>
              </a: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6714244" y="1566190"/>
            <a:ext cx="2876761" cy="287241"/>
            <a:chOff x="6102673" y="1703288"/>
            <a:chExt cx="3239789" cy="287241"/>
          </a:xfrm>
        </p:grpSpPr>
        <p:sp>
          <p:nvSpPr>
            <p:cNvPr id="16" name="Line 58"/>
            <p:cNvSpPr>
              <a:spLocks noChangeShapeType="1"/>
            </p:cNvSpPr>
            <p:nvPr/>
          </p:nvSpPr>
          <p:spPr bwMode="gray">
            <a:xfrm>
              <a:off x="6102673" y="1990529"/>
              <a:ext cx="32397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0000" rIns="90000" anchor="ctr"/>
            <a:lstStyle/>
            <a:p>
              <a:pPr algn="ctr" latinLnBrk="0">
                <a:defRPr/>
              </a:pPr>
              <a:endParaRPr lang="ko-KR" altLang="en-US" sz="1300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17" name="Text Box 57"/>
            <p:cNvSpPr txBox="1">
              <a:spLocks noChangeArrowheads="1"/>
            </p:cNvSpPr>
            <p:nvPr/>
          </p:nvSpPr>
          <p:spPr bwMode="gray">
            <a:xfrm>
              <a:off x="6102673" y="1703288"/>
              <a:ext cx="3239788" cy="28456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46800" rIns="90000" bIns="46800">
              <a:spAutoFit/>
            </a:bodyPr>
            <a:lstStyle>
              <a:lvl1pPr marL="92075" indent="-92075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latinLnBrk="0" hangingPunct="1">
                <a:lnSpc>
                  <a:spcPct val="95000"/>
                </a:lnSpc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lang="ko-KR" altLang="en-US" sz="13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기타 </a:t>
              </a:r>
              <a:r>
                <a:rPr lang="en-US" altLang="ko-KR" sz="13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</a:t>
              </a:r>
              <a:r>
                <a:rPr lang="ko-KR" altLang="en-US" sz="13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범죄</a:t>
              </a:r>
              <a:r>
                <a:rPr lang="en-US" altLang="ko-KR" sz="13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/</a:t>
              </a:r>
              <a:r>
                <a:rPr lang="ko-KR" altLang="en-US" sz="1300" b="1" kern="0" dirty="0" err="1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수사경력</a:t>
              </a:r>
              <a:r>
                <a:rPr lang="en-US" altLang="ko-KR" sz="13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, </a:t>
              </a:r>
              <a:r>
                <a:rPr lang="ko-KR" altLang="en-US" sz="13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연령</a:t>
              </a:r>
              <a:r>
                <a:rPr lang="en-US" altLang="ko-KR" sz="13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)</a:t>
              </a:r>
              <a:endParaRPr lang="ko-KR" altLang="en-US" sz="1300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</p:grpSp>
      <p:sp>
        <p:nvSpPr>
          <p:cNvPr id="18" name="직사각형 17"/>
          <p:cNvSpPr/>
          <p:nvPr/>
        </p:nvSpPr>
        <p:spPr>
          <a:xfrm>
            <a:off x="3503614" y="1991783"/>
            <a:ext cx="2876549" cy="624417"/>
          </a:xfrm>
          <a:prstGeom prst="rect">
            <a:avLst/>
          </a:prstGeom>
          <a:solidFill>
            <a:schemeClr val="tx2"/>
          </a:solidFill>
        </p:spPr>
        <p:txBody>
          <a:bodyPr wrap="square" anchor="ctr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300" b="1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유효기간 최소 </a:t>
            </a:r>
            <a:r>
              <a:rPr lang="en-US" altLang="ko-KR" sz="1300" b="1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18</a:t>
            </a:r>
            <a:r>
              <a:rPr lang="ko-KR" altLang="en-US" sz="1300" b="1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개월 이상 </a:t>
            </a:r>
            <a:br>
              <a:rPr lang="en-US" altLang="ko-KR" sz="1300" b="1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</a:br>
            <a:r>
              <a:rPr lang="en-US" altLang="ko-KR" sz="1300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(2</a:t>
            </a:r>
            <a:r>
              <a:rPr lang="ko-KR" altLang="en-US" sz="1300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년 이상 권장</a:t>
            </a:r>
            <a:r>
              <a:rPr lang="en-US" altLang="ko-KR" sz="1300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300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비자 발급 시점 기준</a:t>
            </a:r>
            <a:r>
              <a:rPr lang="en-US" altLang="ko-KR" sz="1300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277812" y="4982820"/>
            <a:ext cx="2996657" cy="17096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간염 항체가 없더라도 음성이면 발급 가능</a:t>
            </a:r>
            <a:endParaRPr lang="en-US" altLang="ko-KR" sz="11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간염</a:t>
            </a: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성병</a:t>
            </a: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결핵 등 현재 또는 과거 질병이력 소지자 발급 불가</a:t>
            </a:r>
            <a:endParaRPr lang="en-US" altLang="ko-KR" sz="11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과거 결핵 흔적이 있다면 건강진단서 상에 비</a:t>
            </a: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활동성으로 표기되고</a:t>
            </a: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발급 </a:t>
            </a:r>
            <a:r>
              <a:rPr lang="ko-KR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불가</a:t>
            </a:r>
            <a:endParaRPr lang="en-US" altLang="ko-KR" sz="11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흉부 </a:t>
            </a: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X-ray</a:t>
            </a:r>
            <a:r>
              <a:rPr lang="ko-KR" altLang="en-US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의 경우 질병이 완치 되었더라도 </a:t>
            </a: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X-ray </a:t>
            </a:r>
            <a:r>
              <a:rPr lang="ko-KR" altLang="en-US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상 흔적 발견 시 불가</a:t>
            </a:r>
            <a:endParaRPr lang="en-US" altLang="ko-KR" sz="11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514725" y="2709630"/>
            <a:ext cx="2858064" cy="24842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비자발급 신청 시점 기준으로 여권의 유효기간 최소 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18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개월 이상 남아 있어야 하며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</a:t>
            </a: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기본 부임기간 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2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년 고려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거주허가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(R/P)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2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년을 받기 위해서 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R/P 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신청 시점 기준 여권 유효기간 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2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년 이상 필요</a:t>
            </a:r>
            <a:endParaRPr lang="en-US" altLang="ko-KR" sz="13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따라서</a:t>
            </a:r>
            <a:r>
              <a:rPr lang="en-US" altLang="ko-KR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여권 유효기간은 최소 </a:t>
            </a:r>
            <a:r>
              <a:rPr lang="en-US" altLang="ko-KR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2</a:t>
            </a: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년 </a:t>
            </a:r>
            <a:r>
              <a:rPr lang="en-US" altLang="ko-KR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6</a:t>
            </a: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개월 이상</a:t>
            </a:r>
            <a:r>
              <a:rPr lang="en-US" altLang="ko-KR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3</a:t>
            </a: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년 이상을 권장함</a:t>
            </a:r>
            <a:endParaRPr lang="en-US" altLang="ko-KR" sz="13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514725" y="5587109"/>
            <a:ext cx="2858065" cy="839265"/>
          </a:xfrm>
          <a:prstGeom prst="rect">
            <a:avLst/>
          </a:prstGeom>
          <a:pattFill prst="dash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lnSpc>
                <a:spcPct val="130000"/>
              </a:lnSpc>
            </a:pPr>
            <a:r>
              <a:rPr lang="en-US" altLang="ko-KR" sz="1400" b="1" kern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“</a:t>
            </a:r>
            <a:r>
              <a:rPr lang="ko-KR" altLang="en-US" sz="1400" b="1" kern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부임시점 기준 유효기간 </a:t>
            </a:r>
            <a:r>
              <a:rPr lang="en-US" altLang="ko-KR" sz="1400" b="1" kern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3</a:t>
            </a:r>
            <a:r>
              <a:rPr lang="ko-KR" altLang="en-US" sz="1400" b="1" kern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년 </a:t>
            </a:r>
            <a:r>
              <a:rPr lang="ko-KR" altLang="en-US" sz="1400" b="1" kern="0" dirty="0" err="1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미만자는</a:t>
            </a:r>
            <a:r>
              <a:rPr lang="ko-KR" altLang="en-US" sz="1400" b="1" kern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여권 재발급 권고</a:t>
            </a:r>
            <a:r>
              <a:rPr lang="en-US" altLang="ko-KR" sz="1400" b="1" kern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”</a:t>
            </a:r>
            <a:endParaRPr lang="ko-KR" altLang="en-US" sz="1400" b="1" kern="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6751638" y="1991783"/>
            <a:ext cx="2876550" cy="26868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[ </a:t>
            </a: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범죄</a:t>
            </a:r>
            <a:r>
              <a:rPr lang="en-US" altLang="ko-KR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수사 경력 </a:t>
            </a:r>
            <a:r>
              <a:rPr lang="en-US" altLang="ko-KR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]</a:t>
            </a: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범죄</a:t>
            </a:r>
            <a:r>
              <a:rPr lang="en-US" altLang="ko-KR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300" b="1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수사경력</a:t>
            </a: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있는 자 비자 발급 불가</a:t>
            </a:r>
            <a:r>
              <a:rPr lang="en-US" altLang="ko-KR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. </a:t>
            </a: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단</a:t>
            </a:r>
            <a:r>
              <a:rPr lang="en-US" altLang="ko-KR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범죄경력이 말소되어</a:t>
            </a:r>
            <a:r>
              <a:rPr lang="en-US" altLang="ko-KR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PCC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(Police Clearance Certificate)</a:t>
            </a: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에 출력이 안 되는 경우 발급 가능</a:t>
            </a:r>
            <a:endParaRPr lang="en-US" altLang="ko-KR" sz="13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https://minwon.police.go.kr</a:t>
            </a:r>
            <a:endParaRPr lang="en-US" altLang="ko-KR" sz="14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에서 조회가능  </a:t>
            </a:r>
            <a:endParaRPr lang="en-US" altLang="ko-KR" sz="13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spcBef>
                <a:spcPts val="100"/>
              </a:spcBef>
              <a:spcAft>
                <a:spcPts val="100"/>
              </a:spcAft>
            </a:pPr>
            <a:endParaRPr lang="en-US" altLang="ko-KR" sz="13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spcBef>
                <a:spcPts val="100"/>
              </a:spcBef>
              <a:spcAft>
                <a:spcPts val="100"/>
              </a:spcAft>
            </a:pPr>
            <a:endParaRPr lang="en-US" altLang="ko-KR" sz="13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altLang="ko-KR" sz="13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6733624" y="4716244"/>
            <a:ext cx="2997200" cy="1718740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[ </a:t>
            </a: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연령 제한 </a:t>
            </a:r>
            <a:r>
              <a:rPr lang="en-US" altLang="ko-KR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]</a:t>
            </a: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남자 </a:t>
            </a:r>
            <a:r>
              <a:rPr lang="en-US" altLang="ko-KR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만</a:t>
            </a:r>
            <a:r>
              <a:rPr lang="en-US" altLang="ko-KR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21</a:t>
            </a: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세</a:t>
            </a:r>
            <a:r>
              <a:rPr lang="en-US" altLang="ko-KR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~60</a:t>
            </a: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세</a:t>
            </a:r>
            <a:endParaRPr lang="en-US" altLang="ko-KR" sz="13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</a:t>
            </a: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여자 </a:t>
            </a:r>
            <a:r>
              <a:rPr lang="en-US" altLang="ko-KR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만</a:t>
            </a:r>
            <a:r>
              <a:rPr lang="en-US" altLang="ko-KR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27</a:t>
            </a: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세</a:t>
            </a:r>
            <a:r>
              <a:rPr lang="en-US" altLang="ko-KR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~60</a:t>
            </a: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세</a:t>
            </a:r>
            <a:endParaRPr lang="en-US" altLang="ko-KR" sz="13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위의 연령 범위 外 인원들의 경우 개인별 노동청장 승인 필요</a:t>
            </a:r>
            <a:endParaRPr lang="en-US" altLang="ko-KR" sz="13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7" name="내용 개체 틀 3"/>
          <p:cNvSpPr txBox="1">
            <a:spLocks/>
          </p:cNvSpPr>
          <p:nvPr/>
        </p:nvSpPr>
        <p:spPr>
          <a:xfrm>
            <a:off x="5068791" y="184947"/>
            <a:ext cx="4559398" cy="374625"/>
          </a:xfrm>
          <a:prstGeom prst="rect">
            <a:avLst/>
          </a:prstGeom>
        </p:spPr>
        <p:txBody>
          <a:bodyPr/>
          <a:lstStyle>
            <a:lvl1pPr marL="0" indent="0" algn="l" defTabSz="914228" rtl="0" eaLnBrk="1" fontAlgn="base" latinLnBrk="0" hangingPunct="1">
              <a:lnSpc>
                <a:spcPct val="100000"/>
              </a:lnSpc>
              <a:spcBef>
                <a:spcPct val="20000"/>
              </a:spcBef>
              <a:buFontTx/>
              <a:buNone/>
              <a:defRPr lang="ko-KR" altLang="en-US" sz="16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  <a:lvl2pPr marL="144000" indent="0" algn="l" defTabSz="914228" rtl="0" eaLnBrk="1" latinLnBrk="1" hangingPunct="1">
              <a:lnSpc>
                <a:spcPct val="150000"/>
              </a:lnSpc>
              <a:spcBef>
                <a:spcPct val="20000"/>
              </a:spcBef>
              <a:buFont typeface="+mj-lt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171450" algn="l" defTabSz="914228" rtl="0" eaLnBrk="1" latinLnBrk="1" hangingPunct="1">
              <a:lnSpc>
                <a:spcPct val="150000"/>
              </a:lnSpc>
              <a:spcBef>
                <a:spcPct val="20000"/>
              </a:spcBef>
              <a:buFont typeface="맑은 고딕" panose="020B0503020000020004" pitchFamily="50" charset="-127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indent="0" algn="l" defTabSz="914228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013" indent="-228557" algn="l" defTabSz="914228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127" indent="-228557" algn="l" defTabSz="91422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42" indent="-228557" algn="l" defTabSz="91422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54" indent="-228557" algn="l" defTabSz="91422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469" indent="-228557" algn="l" defTabSz="91422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29" name="내용 개체 틀 3"/>
          <p:cNvSpPr txBox="1">
            <a:spLocks/>
          </p:cNvSpPr>
          <p:nvPr/>
        </p:nvSpPr>
        <p:spPr>
          <a:xfrm>
            <a:off x="5073650" y="180664"/>
            <a:ext cx="4559398" cy="374625"/>
          </a:xfrm>
          <a:prstGeom prst="rect">
            <a:avLst/>
          </a:prstGeom>
        </p:spPr>
        <p:txBody>
          <a:bodyPr/>
          <a:lstStyle>
            <a:lvl1pPr marL="0" indent="0" algn="l" defTabSz="914228" rtl="0" eaLnBrk="1" fontAlgn="base" latinLnBrk="0" hangingPunct="1">
              <a:lnSpc>
                <a:spcPct val="100000"/>
              </a:lnSpc>
              <a:spcBef>
                <a:spcPct val="20000"/>
              </a:spcBef>
              <a:buFontTx/>
              <a:buNone/>
              <a:defRPr lang="ko-KR" altLang="en-US" sz="16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  <a:lvl2pPr marL="144000" indent="0" algn="l" defTabSz="914228" rtl="0" eaLnBrk="1" latinLnBrk="1" hangingPunct="1">
              <a:lnSpc>
                <a:spcPct val="150000"/>
              </a:lnSpc>
              <a:spcBef>
                <a:spcPct val="20000"/>
              </a:spcBef>
              <a:buFont typeface="+mj-lt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171450" algn="l" defTabSz="914228" rtl="0" eaLnBrk="1" latinLnBrk="1" hangingPunct="1">
              <a:lnSpc>
                <a:spcPct val="150000"/>
              </a:lnSpc>
              <a:spcBef>
                <a:spcPct val="20000"/>
              </a:spcBef>
              <a:buFont typeface="맑은 고딕" panose="020B0503020000020004" pitchFamily="50" charset="-127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indent="0" algn="l" defTabSz="914228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013" indent="-228557" algn="l" defTabSz="914228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127" indent="-228557" algn="l" defTabSz="91422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42" indent="-228557" algn="l" defTabSz="91422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54" indent="-228557" algn="l" defTabSz="91422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469" indent="-228557" algn="l" defTabSz="91422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2) </a:t>
            </a:r>
            <a:r>
              <a:rPr lang="ko-KR" altLang="en-US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사전 필수 확인 사항</a:t>
            </a:r>
            <a:endParaRPr lang="en-US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30" name="내용 개체 틀 2"/>
          <p:cNvSpPr>
            <a:spLocks noGrp="1"/>
          </p:cNvSpPr>
          <p:nvPr>
            <p:ph sz="quarter" idx="13"/>
          </p:nvPr>
        </p:nvSpPr>
        <p:spPr>
          <a:xfrm>
            <a:off x="157200" y="131287"/>
            <a:ext cx="4795800" cy="428700"/>
          </a:xfrm>
        </p:spPr>
        <p:txBody>
          <a:bodyPr/>
          <a:lstStyle/>
          <a:p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1. </a:t>
            </a:r>
            <a:r>
              <a:rPr lang="ko-KR" altLang="en-US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비자 안내</a:t>
            </a:r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 - WORK Visa</a:t>
            </a:r>
            <a:endParaRPr lang="ko-KR" altLang="en-US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4481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42"/>
          <p:cNvSpPr/>
          <p:nvPr/>
        </p:nvSpPr>
        <p:spPr>
          <a:xfrm>
            <a:off x="5138446" y="4391135"/>
            <a:ext cx="4675380" cy="199809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/>
            <a:endParaRPr lang="ko-KR" altLang="en-US" sz="1200" kern="0" dirty="0">
              <a:solidFill>
                <a:schemeClr val="tx1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부임자는 관리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공무팀을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통해 부임 시점 확정 후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부임 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3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개월 전 여권 </a:t>
            </a:r>
            <a:r>
              <a:rPr lang="ko-KR" altLang="en-US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스캔본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영문졸업증명서 스캔본을 노무 담당자에게 제출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3) </a:t>
            </a:r>
            <a:r>
              <a:rPr lang="ko-KR" altLang="en-US">
                <a:latin typeface="현대하모니 B" panose="02020603020101020101" pitchFamily="18" charset="-127"/>
                <a:ea typeface="현대하모니 B" panose="02020603020101020101" pitchFamily="18" charset="-127"/>
              </a:rPr>
              <a:t>발급 신청</a:t>
            </a:r>
            <a:endParaRPr lang="ko-KR" altLang="en-US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308923" y="1951361"/>
            <a:ext cx="3145477" cy="1589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담당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서울사무소 비자 담당자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송부 자료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-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여권 </a:t>
            </a:r>
            <a:r>
              <a:rPr lang="ko-KR" altLang="en-US" sz="12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스캔본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-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영문대학 졸업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성적 증명서 출력 후 </a:t>
            </a:r>
            <a:r>
              <a:rPr lang="ko-KR" altLang="en-US" sz="12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스캔본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93663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※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영문졸업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성적 증명서 학교 압인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&amp;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도장 필요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93663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(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주민센터 </a:t>
            </a:r>
            <a:r>
              <a:rPr lang="ko-KR" altLang="en-US" sz="11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발급분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사용 불가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3756" y="6433730"/>
            <a:ext cx="9424432" cy="312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0">
              <a:lnSpc>
                <a:spcPct val="130000"/>
              </a:lnSpc>
            </a:pPr>
            <a:r>
              <a:rPr lang="en-US" altLang="ko-KR" sz="11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* </a:t>
            </a:r>
            <a:r>
              <a:rPr lang="ko-KR" altLang="en-US" sz="11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실제 업무와 비자 직종 간의 </a:t>
            </a:r>
            <a:r>
              <a:rPr lang="en-US" altLang="ko-KR" sz="11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Match </a:t>
            </a:r>
            <a:r>
              <a:rPr lang="ko-KR" altLang="en-US" sz="11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813" y="1505270"/>
            <a:ext cx="2996657" cy="383087"/>
          </a:xfrm>
          <a:prstGeom prst="homePlate">
            <a:avLst>
              <a:gd name="adj" fmla="val 22491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부임자 신청</a:t>
            </a:r>
            <a:endParaRPr lang="ko-KR" altLang="en-US" sz="13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54400" y="1505270"/>
            <a:ext cx="2996657" cy="383087"/>
          </a:xfrm>
          <a:prstGeom prst="homePlate">
            <a:avLst>
              <a:gd name="adj" fmla="val 22491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사우디 지사에 </a:t>
            </a:r>
            <a:r>
              <a:rPr lang="en-US" altLang="ko-KR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Work </a:t>
            </a: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비자 신청</a:t>
            </a:r>
            <a:endParaRPr lang="ko-KR" altLang="en-US" sz="13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30988" y="1505270"/>
            <a:ext cx="2996657" cy="383087"/>
          </a:xfrm>
          <a:prstGeom prst="homePlate">
            <a:avLst>
              <a:gd name="adj" fmla="val 22491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E-POA </a:t>
            </a: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등 비자 서류 발급</a:t>
            </a:r>
            <a:r>
              <a:rPr lang="en-US" altLang="ko-KR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구비</a:t>
            </a:r>
            <a:endParaRPr lang="ko-KR" altLang="en-US" sz="13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308922" y="1532998"/>
            <a:ext cx="216780" cy="218160"/>
          </a:xfrm>
          <a:prstGeom prst="rect">
            <a:avLst/>
          </a:prstGeom>
          <a:solidFill>
            <a:schemeClr val="tx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lnSpc>
                <a:spcPct val="130000"/>
              </a:lnSpc>
            </a:pPr>
            <a:r>
              <a:rPr lang="en-US" altLang="ko-KR" sz="1300" b="1" kern="0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1</a:t>
            </a:r>
            <a:endParaRPr lang="ko-KR" altLang="en-US" sz="1300" b="1" kern="0" dirty="0">
              <a:solidFill>
                <a:schemeClr val="bg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6662975" y="1532998"/>
            <a:ext cx="216780" cy="218160"/>
          </a:xfrm>
          <a:prstGeom prst="rect">
            <a:avLst/>
          </a:prstGeom>
          <a:solidFill>
            <a:schemeClr val="tx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lnSpc>
                <a:spcPct val="130000"/>
              </a:lnSpc>
            </a:pPr>
            <a:r>
              <a:rPr lang="en-US" altLang="ko-KR" sz="1300" b="1" kern="0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3</a:t>
            </a:r>
            <a:endParaRPr lang="ko-KR" altLang="en-US" sz="1300" b="1" kern="0" dirty="0">
              <a:solidFill>
                <a:schemeClr val="bg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3490452" y="1539023"/>
            <a:ext cx="216780" cy="218160"/>
          </a:xfrm>
          <a:prstGeom prst="rect">
            <a:avLst/>
          </a:prstGeom>
          <a:solidFill>
            <a:schemeClr val="tx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lnSpc>
                <a:spcPct val="130000"/>
              </a:lnSpc>
            </a:pPr>
            <a:r>
              <a:rPr lang="en-US" altLang="ko-KR" sz="1300" b="1" kern="0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2</a:t>
            </a:r>
            <a:endParaRPr lang="ko-KR" altLang="en-US" sz="1300" b="1" kern="0" dirty="0">
              <a:solidFill>
                <a:schemeClr val="bg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3490452" y="1957748"/>
            <a:ext cx="2965547" cy="1109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신청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부임자 기본정보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여권사본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필수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 졸업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성적 증명서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-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유효기간 고려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추후 추가 발급 필요성 有 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시점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최소 부임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2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달 전 신청 필요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6646542" y="1951618"/>
            <a:ext cx="2965547" cy="20672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서울사무소 신청 접수 후 내부 검토 및 품의를 거쳐 비자 발급 신청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발급 소요 기간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2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주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~ 4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주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271463" indent="-177800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맑은 고딕" panose="020B0503020000020004" pitchFamily="50" charset="-127"/>
              <a:buChar char="–"/>
            </a:pP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노동청 시스템 에러 등 이슈 사항 발생으로 지연 가능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비자 서류 구비 완료 후 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서울사무소 비자 담당자 통하여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비자 센터 인터뷰 예약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77621" y="4388159"/>
            <a:ext cx="4675380" cy="200107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/>
            <a:endParaRPr lang="ko-KR" altLang="en-US" sz="1200" kern="0" dirty="0">
              <a:solidFill>
                <a:schemeClr val="tx1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77618" y="4172975"/>
            <a:ext cx="900000" cy="21816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300" b="1" kern="0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서류 공증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308922" y="4441669"/>
            <a:ext cx="2366073" cy="1952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[</a:t>
            </a:r>
            <a:r>
              <a:rPr lang="ko-KR" altLang="en-US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외교부 인증</a:t>
            </a: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]</a:t>
            </a:r>
          </a:p>
          <a:p>
            <a:pPr marL="171450" indent="-171450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Tx/>
              <a:buChar char="-"/>
            </a:pP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 경력증명서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71450" indent="-171450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Tx/>
              <a:buChar char="-"/>
            </a:pP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건강진단서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&amp; </a:t>
            </a:r>
            <a:r>
              <a:rPr lang="ko-KR" altLang="en-US" sz="11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건강증명서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71450" indent="-171450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Tx/>
              <a:buChar char="-"/>
            </a:pP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 졸업증명서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&amp;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 성적증명서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71450" indent="-171450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Tx/>
              <a:buChar char="-"/>
            </a:pP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범죄경력 회보서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&amp; </a:t>
            </a:r>
            <a:r>
              <a:rPr lang="ko-KR" altLang="en-US" sz="11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수사경력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회보서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endParaRPr lang="en-US" altLang="ko-KR" sz="7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[</a:t>
            </a:r>
            <a:r>
              <a:rPr lang="ko-KR" altLang="en-US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사우디 문화원 인증</a:t>
            </a: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]</a:t>
            </a: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 졸업증명서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&amp;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 성적증명서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637650" y="4444595"/>
            <a:ext cx="2239205" cy="1018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100" b="1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아포스티유</a:t>
            </a:r>
            <a:r>
              <a:rPr lang="ko-KR" altLang="en-US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인증</a:t>
            </a:r>
            <a:endParaRPr lang="en-US" altLang="ko-KR" sz="11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71450" indent="-171450" algn="just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Tx/>
              <a:buChar char="-"/>
            </a:pP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건강진단서 등 기타 모든 서류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algn="just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외교부 </a:t>
            </a:r>
            <a:r>
              <a:rPr lang="ko-KR" altLang="en-US" sz="11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아포스티유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인증으로 대체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71450" indent="-171450" algn="just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Tx/>
              <a:buChar char="-"/>
            </a:pPr>
            <a:r>
              <a:rPr lang="ko-KR" altLang="en-US" sz="11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아포스티유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접수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소요일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2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박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3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일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cxnSp>
        <p:nvCxnSpPr>
          <p:cNvPr id="14" name="직선 연결선 13"/>
          <p:cNvCxnSpPr>
            <a:endCxn id="3" idx="2"/>
          </p:cNvCxnSpPr>
          <p:nvPr/>
        </p:nvCxnSpPr>
        <p:spPr>
          <a:xfrm>
            <a:off x="2615311" y="4504875"/>
            <a:ext cx="0" cy="188435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5138446" y="4174858"/>
            <a:ext cx="1678007" cy="21816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300" b="1" kern="0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서류 준비 시 유의사항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2255311" y="4391135"/>
            <a:ext cx="360000" cy="18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000" b="1" kern="0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기존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4593000" y="4388160"/>
            <a:ext cx="360000" cy="1800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000" b="1" kern="0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변경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5174480" y="4441669"/>
            <a:ext cx="2225509" cy="1732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0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1. </a:t>
            </a:r>
            <a:r>
              <a:rPr lang="ko-KR" altLang="en-US" sz="10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서류 발급 유효기간 고려 必</a:t>
            </a:r>
            <a:endParaRPr lang="en-US" altLang="ko-KR" sz="10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r>
              <a:rPr lang="ko-KR" altLang="en-US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건강진단서</a:t>
            </a:r>
            <a:r>
              <a:rPr lang="en-US" altLang="ko-KR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증명서 </a:t>
            </a:r>
            <a:r>
              <a:rPr lang="en-US" altLang="ko-KR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발급 후 </a:t>
            </a:r>
            <a:r>
              <a:rPr lang="en-US" altLang="ko-KR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3</a:t>
            </a:r>
            <a:r>
              <a:rPr lang="ko-KR" altLang="en-US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개월</a:t>
            </a:r>
            <a:endParaRPr lang="en-US" altLang="ko-KR" sz="9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r>
              <a:rPr lang="ko-KR" altLang="en-US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건강진단서 外 모든 서류 </a:t>
            </a:r>
            <a:r>
              <a:rPr lang="en-US" altLang="ko-KR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발급 후 </a:t>
            </a:r>
            <a:r>
              <a:rPr lang="en-US" altLang="ko-KR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2</a:t>
            </a:r>
            <a:r>
              <a:rPr lang="ko-KR" altLang="en-US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개월</a:t>
            </a:r>
            <a:endParaRPr lang="en-US" altLang="ko-KR" sz="9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endParaRPr lang="en-US" altLang="ko-KR" sz="3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0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2. </a:t>
            </a:r>
            <a:r>
              <a:rPr lang="ko-KR" altLang="en-US" sz="10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여권사진</a:t>
            </a:r>
            <a:endParaRPr lang="en-US" altLang="ko-KR" sz="10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r>
              <a:rPr lang="ko-KR" altLang="en-US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최근 </a:t>
            </a:r>
            <a:r>
              <a:rPr lang="en-US" altLang="ko-KR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6</a:t>
            </a:r>
            <a:r>
              <a:rPr lang="ko-KR" altLang="en-US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개월 내 </a:t>
            </a:r>
            <a:r>
              <a:rPr lang="ko-KR" altLang="en-US" sz="9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촬영본</a:t>
            </a:r>
            <a:r>
              <a:rPr lang="en-US" altLang="ko-KR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안경 등 착용 불가</a:t>
            </a:r>
            <a:r>
              <a:rPr lang="en-US" altLang="ko-KR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endParaRPr lang="en-US" altLang="ko-KR" sz="3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0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3. </a:t>
            </a:r>
            <a:r>
              <a:rPr lang="ko-KR" altLang="en-US" sz="10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모든 서류에 기재된 영문 </a:t>
            </a:r>
            <a:r>
              <a:rPr lang="ko-KR" altLang="en-US" sz="1000" b="1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직책명은</a:t>
            </a:r>
            <a:r>
              <a:rPr lang="ko-KR" altLang="en-US" sz="10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동일해야 함</a:t>
            </a:r>
            <a:endParaRPr lang="en-US" altLang="ko-KR" sz="10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cxnSp>
        <p:nvCxnSpPr>
          <p:cNvPr id="45" name="직선 연결선 44"/>
          <p:cNvCxnSpPr>
            <a:stCxn id="43" idx="0"/>
            <a:endCxn id="43" idx="2"/>
          </p:cNvCxnSpPr>
          <p:nvPr/>
        </p:nvCxnSpPr>
        <p:spPr>
          <a:xfrm>
            <a:off x="7476136" y="4391135"/>
            <a:ext cx="0" cy="19980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7532227" y="4437994"/>
            <a:ext cx="2225509" cy="1715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0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4. </a:t>
            </a:r>
            <a:r>
              <a:rPr lang="ko-KR" altLang="en-US" sz="10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현 여권에 유효한 사우디 비자가 있을 경우</a:t>
            </a:r>
            <a:r>
              <a:rPr lang="en-US" altLang="ko-KR" sz="10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0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 사유서 및 기존 비자 취소 신청서 제출 必</a:t>
            </a:r>
            <a:endParaRPr lang="en-US" altLang="ko-KR" sz="5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endParaRPr lang="en-US" altLang="ko-KR" sz="3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0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5. </a:t>
            </a:r>
            <a:r>
              <a:rPr lang="ko-KR" altLang="en-US" sz="10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과거 </a:t>
            </a:r>
            <a:r>
              <a:rPr lang="ko-KR" altLang="en-US" sz="1000" b="1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워크비자</a:t>
            </a:r>
            <a:r>
              <a:rPr lang="ko-KR" altLang="en-US" sz="10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신청 이력이 있을 경우</a:t>
            </a:r>
            <a:r>
              <a:rPr lang="en-US" altLang="ko-KR" sz="10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NOC &amp; FINAL EXIT LETTER </a:t>
            </a:r>
            <a:r>
              <a:rPr lang="ko-KR" altLang="en-US" sz="10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추가 必</a:t>
            </a:r>
            <a:endParaRPr lang="en-US" altLang="ko-KR" sz="2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endParaRPr lang="en-US" altLang="ko-KR" sz="3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0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6. </a:t>
            </a:r>
            <a:r>
              <a:rPr lang="ko-KR" altLang="en-US" sz="10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범죄</a:t>
            </a:r>
            <a:r>
              <a:rPr lang="en-US" altLang="ko-KR" sz="10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0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수사 기록이 있을 경우</a:t>
            </a:r>
            <a:r>
              <a:rPr lang="en-US" altLang="ko-KR" sz="10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0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사우디 </a:t>
            </a:r>
            <a:r>
              <a:rPr lang="ko-KR" altLang="en-US" sz="1000" b="1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워크비자</a:t>
            </a:r>
            <a:r>
              <a:rPr lang="ko-KR" altLang="en-US" sz="10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발급 불가</a:t>
            </a:r>
            <a:endParaRPr lang="en-US" altLang="ko-KR" sz="10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1EA0827-C33B-6CEF-ACFC-48A8158BE78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7200" y="131287"/>
            <a:ext cx="4795800" cy="428700"/>
          </a:xfrm>
        </p:spPr>
        <p:txBody>
          <a:bodyPr/>
          <a:lstStyle/>
          <a:p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1. </a:t>
            </a:r>
            <a:r>
              <a:rPr lang="ko-KR" altLang="en-US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비자 안내</a:t>
            </a:r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 - WORK Visa</a:t>
            </a:r>
            <a:endParaRPr lang="ko-KR" altLang="en-US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8663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</a:rPr>
              <a:t>※ 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해외 부임 건강검진의 경우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워크비자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건강검진으로 대체</a:t>
            </a:r>
            <a:endParaRPr lang="en-US" altLang="ko-KR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r>
              <a:rPr lang="ko-KR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※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비자 발급 후 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90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일 이내 사우디 입국 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1. </a:t>
            </a:r>
            <a:r>
              <a:rPr lang="ko-KR" altLang="en-US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비자 안내</a:t>
            </a:r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 - WORK Visa</a:t>
            </a:r>
          </a:p>
          <a:p>
            <a:endParaRPr lang="ko-KR" altLang="en-US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4" name="내용 개체 틀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4) </a:t>
            </a:r>
            <a:r>
              <a:rPr lang="ko-KR" altLang="en-US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발급 </a:t>
            </a:r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Process</a:t>
            </a:r>
            <a:endParaRPr lang="ko-KR" altLang="en-US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277813" y="1583124"/>
            <a:ext cx="9350375" cy="299185"/>
            <a:chOff x="277814" y="1583124"/>
            <a:chExt cx="958441" cy="299185"/>
          </a:xfrm>
        </p:grpSpPr>
        <p:sp>
          <p:nvSpPr>
            <p:cNvPr id="6" name="Line 58"/>
            <p:cNvSpPr>
              <a:spLocks noChangeShapeType="1"/>
            </p:cNvSpPr>
            <p:nvPr/>
          </p:nvSpPr>
          <p:spPr bwMode="gray">
            <a:xfrm>
              <a:off x="277814" y="1870365"/>
              <a:ext cx="9584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0000" rIns="90000" anchor="ctr"/>
            <a:lstStyle/>
            <a:p>
              <a:pPr algn="ctr" latinLnBrk="0">
                <a:defRPr/>
              </a:pPr>
              <a:endParaRPr lang="ko-KR" altLang="en-US" sz="1300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7" name="Text Box 57"/>
            <p:cNvSpPr txBox="1">
              <a:spLocks noChangeArrowheads="1"/>
            </p:cNvSpPr>
            <p:nvPr/>
          </p:nvSpPr>
          <p:spPr bwMode="gray">
            <a:xfrm>
              <a:off x="277814" y="1583124"/>
              <a:ext cx="958441" cy="29918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72000" tIns="46800" rIns="72000" bIns="46800">
              <a:spAutoFit/>
            </a:bodyPr>
            <a:lstStyle>
              <a:lvl1pPr marL="92075" indent="-92075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indent="0" algn="ctr" eaLnBrk="1" latinLnBrk="0" hangingPunct="1">
                <a:lnSpc>
                  <a:spcPct val="95000"/>
                </a:lnSpc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lang="en-US" altLang="ko-KR" sz="14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Work Visa </a:t>
              </a:r>
              <a:r>
                <a:rPr lang="ko-KR" altLang="en-US" sz="14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발급 </a:t>
              </a:r>
              <a:r>
                <a:rPr lang="en-US" altLang="ko-KR" sz="14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Process</a:t>
              </a:r>
              <a:endParaRPr lang="ko-KR" altLang="en-US" sz="1400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</p:grpSp>
      <p:cxnSp>
        <p:nvCxnSpPr>
          <p:cNvPr id="8" name="직선 화살표 연결선 7"/>
          <p:cNvCxnSpPr/>
          <p:nvPr/>
        </p:nvCxnSpPr>
        <p:spPr>
          <a:xfrm>
            <a:off x="756675" y="2349500"/>
            <a:ext cx="8392650" cy="0"/>
          </a:xfrm>
          <a:prstGeom prst="straightConnector1">
            <a:avLst/>
          </a:prstGeom>
          <a:ln w="31750">
            <a:solidFill>
              <a:schemeClr val="bg1">
                <a:lumMod val="50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/>
          <p:cNvSpPr/>
          <p:nvPr/>
        </p:nvSpPr>
        <p:spPr>
          <a:xfrm>
            <a:off x="3743463" y="2243667"/>
            <a:ext cx="239790" cy="239790"/>
          </a:xfrm>
          <a:prstGeom prst="ellipse">
            <a:avLst/>
          </a:prstGeom>
          <a:solidFill>
            <a:schemeClr val="bg1"/>
          </a:solidFill>
          <a:ln w="25400" cmpd="sng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/>
            <a:endParaRPr lang="ko-KR" altLang="en-US" sz="1200" kern="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945898" y="2229605"/>
            <a:ext cx="239790" cy="239790"/>
          </a:xfrm>
          <a:prstGeom prst="ellipse">
            <a:avLst/>
          </a:prstGeom>
          <a:solidFill>
            <a:schemeClr val="bg1"/>
          </a:solidFill>
          <a:ln w="25400" cmpd="sng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/>
            <a:endParaRPr lang="ko-KR" altLang="en-US" sz="1200" kern="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6421133" y="2243667"/>
            <a:ext cx="239790" cy="239790"/>
          </a:xfrm>
          <a:prstGeom prst="ellipse">
            <a:avLst/>
          </a:prstGeom>
          <a:solidFill>
            <a:schemeClr val="bg1"/>
          </a:solidFill>
          <a:ln w="25400" cmpd="sng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/>
            <a:endParaRPr lang="ko-KR" altLang="en-US" sz="1200" kern="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6" name="타원 15"/>
          <p:cNvSpPr/>
          <p:nvPr/>
        </p:nvSpPr>
        <p:spPr>
          <a:xfrm>
            <a:off x="7997041" y="2243667"/>
            <a:ext cx="239790" cy="239790"/>
          </a:xfrm>
          <a:prstGeom prst="ellipse">
            <a:avLst/>
          </a:prstGeom>
          <a:solidFill>
            <a:schemeClr val="bg1"/>
          </a:solidFill>
          <a:ln w="25400" cmpd="sng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/>
            <a:endParaRPr lang="ko-KR" altLang="en-US" sz="1200" kern="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8038" y="2534849"/>
            <a:ext cx="1177776" cy="276999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ko-KR" altLang="en-US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비자 서류</a:t>
            </a:r>
            <a:r>
              <a:rPr lang="en-US" altLang="ko-KR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구비</a:t>
            </a:r>
            <a:endParaRPr lang="ko-KR" altLang="en-US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48030" y="2534850"/>
            <a:ext cx="1959083" cy="46166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ko-KR" altLang="en-US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비자 센터 인터뷰 및</a:t>
            </a:r>
            <a:endParaRPr lang="en-US" altLang="ko-KR" sz="12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algn="ctr"/>
            <a:r>
              <a:rPr lang="ko-KR" altLang="en-US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서류 접수 </a:t>
            </a:r>
            <a:r>
              <a:rPr lang="en-US" altLang="ko-KR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여권 제출</a:t>
            </a:r>
            <a:r>
              <a:rPr lang="en-US" altLang="ko-KR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endParaRPr lang="ko-KR" altLang="en-US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72035" y="2535082"/>
            <a:ext cx="1177776" cy="276999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ko-KR" altLang="en-US" sz="1200" b="1" dirty="0">
                <a:highlight>
                  <a:srgbClr val="FFFFFF"/>
                </a:highlight>
                <a:latin typeface="현대하모니 L" panose="02020603020101020101" pitchFamily="18" charset="-127"/>
                <a:ea typeface="현대하모니 L" panose="02020603020101020101" pitchFamily="18" charset="-127"/>
              </a:rPr>
              <a:t>여권 등기 수령</a:t>
            </a:r>
            <a:endParaRPr lang="ko-KR" altLang="en-US" sz="1200" dirty="0">
              <a:highlight>
                <a:srgbClr val="FFFFFF"/>
              </a:highlight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86728" y="2534850"/>
            <a:ext cx="1300206" cy="276999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ko-KR" altLang="en-US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출국 및 사우디 입국</a:t>
            </a:r>
            <a:endParaRPr lang="ko-KR" altLang="en-US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575819" y="2579197"/>
            <a:ext cx="180000" cy="180000"/>
          </a:xfrm>
          <a:prstGeom prst="ellipse">
            <a:avLst/>
          </a:prstGeom>
          <a:solidFill>
            <a:schemeClr val="tx1"/>
          </a:solidFill>
          <a:ln w="9525" cmpd="sng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/>
            <a:r>
              <a:rPr lang="en-US" altLang="ko-KR" sz="1200" b="1" kern="0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1</a:t>
            </a:r>
            <a:endParaRPr lang="ko-KR" altLang="en-US" sz="1200" b="1" kern="0" dirty="0">
              <a:solidFill>
                <a:schemeClr val="bg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7" name="타원 26"/>
          <p:cNvSpPr/>
          <p:nvPr/>
        </p:nvSpPr>
        <p:spPr>
          <a:xfrm>
            <a:off x="3068516" y="2579197"/>
            <a:ext cx="180000" cy="180000"/>
          </a:xfrm>
          <a:prstGeom prst="ellipse">
            <a:avLst/>
          </a:prstGeom>
          <a:solidFill>
            <a:schemeClr val="tx1"/>
          </a:solidFill>
          <a:ln w="9525" cmpd="sng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/>
            <a:r>
              <a:rPr lang="en-US" altLang="ko-KR" sz="1200" b="1" kern="0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2</a:t>
            </a:r>
            <a:endParaRPr lang="ko-KR" altLang="en-US" sz="1200" b="1" kern="0" dirty="0">
              <a:solidFill>
                <a:schemeClr val="bg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5957918" y="2586335"/>
            <a:ext cx="180000" cy="180000"/>
          </a:xfrm>
          <a:prstGeom prst="ellipse">
            <a:avLst/>
          </a:prstGeom>
          <a:solidFill>
            <a:schemeClr val="tx1"/>
          </a:solidFill>
          <a:ln w="9525" cmpd="sng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/>
            <a:r>
              <a:rPr lang="en-US" altLang="ko-KR" sz="1200" b="1" kern="0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3</a:t>
            </a:r>
            <a:endParaRPr lang="ko-KR" altLang="en-US" sz="1200" b="1" kern="0" dirty="0">
              <a:solidFill>
                <a:schemeClr val="bg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9" name="타원 28"/>
          <p:cNvSpPr/>
          <p:nvPr/>
        </p:nvSpPr>
        <p:spPr>
          <a:xfrm>
            <a:off x="7392171" y="2585207"/>
            <a:ext cx="180000" cy="180000"/>
          </a:xfrm>
          <a:prstGeom prst="ellipse">
            <a:avLst/>
          </a:prstGeom>
          <a:solidFill>
            <a:schemeClr val="tx1"/>
          </a:solidFill>
          <a:ln w="9525" cmpd="sng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/>
            <a:r>
              <a:rPr lang="en-US" altLang="ko-KR" sz="1200" b="1" kern="0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4</a:t>
            </a:r>
            <a:endParaRPr lang="ko-KR" altLang="en-US" sz="1200" b="1" kern="0" dirty="0">
              <a:solidFill>
                <a:schemeClr val="bg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441913" y="3115897"/>
            <a:ext cx="9014507" cy="3070011"/>
          </a:xfrm>
          <a:prstGeom prst="rect">
            <a:avLst/>
          </a:prstGeom>
          <a:pattFill prst="dash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/>
            <a:endParaRPr lang="ko-KR" altLang="en-US" sz="1200" kern="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1645" y="3119289"/>
            <a:ext cx="4814094" cy="372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0">
              <a:lnSpc>
                <a:spcPct val="130000"/>
              </a:lnSpc>
            </a:pPr>
            <a:r>
              <a:rPr lang="en-US" altLang="ko-KR" sz="14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[ </a:t>
            </a:r>
            <a:r>
              <a:rPr lang="ko-KR" altLang="en-US" sz="14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발급 </a:t>
            </a:r>
            <a:r>
              <a:rPr lang="en-US" altLang="ko-KR" sz="14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Process </a:t>
            </a:r>
            <a:r>
              <a:rPr lang="ko-KR" altLang="en-US" sz="14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요약 </a:t>
            </a:r>
            <a:r>
              <a:rPr lang="en-US" altLang="ko-KR" sz="14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]</a:t>
            </a:r>
            <a:endParaRPr lang="ko-KR" altLang="en-US" sz="1400" b="1" kern="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56675" y="3449278"/>
            <a:ext cx="9112020" cy="2721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비자</a:t>
            </a:r>
            <a:r>
              <a:rPr lang="en-US" altLang="ko-KR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서류 구비</a:t>
            </a:r>
            <a:endParaRPr lang="en-US" altLang="ko-KR" sz="13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77800" lvl="1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tabLst>
                <a:tab pos="355600" algn="l"/>
              </a:tabLst>
            </a:pPr>
            <a:endParaRPr lang="en-US" altLang="ko-KR" sz="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77800" indent="-177800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비자 센터 인터뷰 및 서류 접수 </a:t>
            </a:r>
            <a:r>
              <a:rPr lang="en-US" altLang="ko-KR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여권 제출</a:t>
            </a:r>
            <a:r>
              <a:rPr lang="en-US" altLang="ko-KR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endParaRPr lang="en-US" altLang="ko-KR" sz="13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355600" lvl="1" indent="-177800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-"/>
              <a:tabLst>
                <a:tab pos="355600" algn="l"/>
              </a:tabLst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제출 서류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</a:t>
            </a:r>
          </a:p>
          <a:p>
            <a:pPr marL="177800" lvl="1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tabLst>
                <a:tab pos="355600" algn="l"/>
              </a:tabLst>
            </a:pP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Authorization Letter,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현지 영문고용계약서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E-POA,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여권 원본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&amp;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사본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 졸업증명서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 성적증명서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필요시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),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비자 신청서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</a:t>
            </a:r>
          </a:p>
          <a:p>
            <a:pPr marL="177800" lvl="1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tabLst>
                <a:tab pos="355600" algn="l"/>
              </a:tabLst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여권사진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2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매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개인정보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생체인식정보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동의서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서약서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 건강진단서 및 증명서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 범죄경력 회보서 및 </a:t>
            </a:r>
            <a:r>
              <a:rPr lang="ko-KR" altLang="en-US" sz="12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수사경력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회보서 원본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</a:p>
          <a:p>
            <a:pPr marL="177800" lvl="1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tabLst>
                <a:tab pos="355600" algn="l"/>
              </a:tabLst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 이력서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 재직증명서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 경력증명서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취업비자 요청 레터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필요 시 기타 추가 서류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77800" lvl="1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tabLst>
                <a:tab pos="355600" algn="l"/>
              </a:tabLst>
            </a:pPr>
            <a:endParaRPr lang="en-US" altLang="ko-KR" sz="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77800" indent="-177800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여권 등기 수령</a:t>
            </a:r>
            <a:endParaRPr lang="en-US" altLang="ko-KR" sz="13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77800" indent="-177800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altLang="ko-KR" sz="2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77800" indent="-177800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출국 및 사우디 입국</a:t>
            </a: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(※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비자 유효 기간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발급 후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90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일 내 사우디 입국 必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endParaRPr lang="en-US" altLang="ko-KR" sz="12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355600" lvl="1" indent="-177800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-"/>
              <a:tabLst>
                <a:tab pos="355600" algn="l"/>
              </a:tabLst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도착 즉시 현장 </a:t>
            </a:r>
            <a:r>
              <a:rPr lang="ko-KR" altLang="en-US" sz="12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노무파트에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여권 사본 및 관련 서류 제출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755819" y="3505483"/>
            <a:ext cx="216000" cy="2160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/>
            <a:r>
              <a:rPr lang="en-US" altLang="ko-KR" sz="1100" b="1" kern="0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1</a:t>
            </a:r>
            <a:endParaRPr lang="ko-KR" altLang="en-US" sz="1100" b="1" kern="0" dirty="0">
              <a:solidFill>
                <a:schemeClr val="bg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755819" y="3867509"/>
            <a:ext cx="216000" cy="2160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/>
            <a:r>
              <a:rPr lang="en-US" altLang="ko-KR" sz="1100" b="1" kern="0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2</a:t>
            </a:r>
            <a:endParaRPr lang="ko-KR" altLang="en-US" sz="1100" b="1" kern="0" dirty="0">
              <a:solidFill>
                <a:schemeClr val="bg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755819" y="5218524"/>
            <a:ext cx="216000" cy="2160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/>
            <a:r>
              <a:rPr lang="en-US" altLang="ko-KR" sz="1100" b="1" kern="0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3</a:t>
            </a:r>
            <a:endParaRPr lang="ko-KR" altLang="en-US" sz="1100" b="1" kern="0" dirty="0">
              <a:solidFill>
                <a:schemeClr val="bg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755819" y="5575224"/>
            <a:ext cx="216000" cy="2160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/>
            <a:r>
              <a:rPr lang="en-US" altLang="ko-KR" sz="1100" b="1" kern="0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4</a:t>
            </a:r>
            <a:endParaRPr lang="ko-KR" altLang="en-US" sz="1100" b="1" kern="0" dirty="0">
              <a:solidFill>
                <a:schemeClr val="bg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1822" y="6218008"/>
            <a:ext cx="9424432" cy="312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0">
              <a:lnSpc>
                <a:spcPct val="130000"/>
              </a:lnSpc>
            </a:pPr>
            <a:r>
              <a:rPr lang="en-US" altLang="ko-KR" sz="11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* PCC(Police Clearance Certificate) : </a:t>
            </a:r>
            <a:r>
              <a:rPr lang="ko-KR" altLang="en-US" sz="11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범죄</a:t>
            </a:r>
            <a:r>
              <a:rPr lang="en-US" altLang="ko-KR" sz="11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1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수사경력회보서 각각 발급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08114" y="1893177"/>
            <a:ext cx="231095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0">
              <a:lnSpc>
                <a:spcPct val="130000"/>
              </a:lnSpc>
            </a:pPr>
            <a:r>
              <a:rPr lang="en-US" altLang="ko-KR" sz="10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0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일수</a:t>
            </a:r>
            <a:r>
              <a:rPr lang="en-US" altLang="ko-KR" sz="10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r>
              <a:rPr lang="ko-KR" altLang="en-US" sz="10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0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Working Day </a:t>
            </a:r>
            <a:r>
              <a:rPr lang="ko-KR" altLang="en-US" sz="10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기준</a:t>
            </a:r>
          </a:p>
        </p:txBody>
      </p:sp>
      <p:sp>
        <p:nvSpPr>
          <p:cNvPr id="44" name="왼쪽 중괄호 43"/>
          <p:cNvSpPr/>
          <p:nvPr/>
        </p:nvSpPr>
        <p:spPr>
          <a:xfrm rot="5400000">
            <a:off x="3715028" y="-610777"/>
            <a:ext cx="180000" cy="5472000"/>
          </a:xfrm>
          <a:prstGeom prst="leftBrac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918876" y="1950519"/>
            <a:ext cx="1693491" cy="240231"/>
          </a:xfrm>
          <a:prstGeom prst="flowChartAlternateProcess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txBody>
          <a:bodyPr wrap="square" lIns="36000" tIns="0" rIns="36000" bIns="0" rtlCol="0">
            <a:noAutofit/>
          </a:bodyPr>
          <a:lstStyle/>
          <a:p>
            <a:pPr algn="ctr" fontAlgn="base" latinLnBrk="0">
              <a:lnSpc>
                <a:spcPct val="130000"/>
              </a:lnSpc>
            </a:pPr>
            <a:r>
              <a:rPr lang="en-US" altLang="ko-KR" sz="1100" b="1" i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3</a:t>
            </a:r>
            <a:r>
              <a:rPr lang="ko-KR" altLang="en-US" sz="1100" b="1" i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주 이상 소요</a:t>
            </a:r>
          </a:p>
        </p:txBody>
      </p:sp>
    </p:spTree>
    <p:extLst>
      <p:ext uri="{BB962C8B-B14F-4D97-AF65-F5344CB8AC3E}">
        <p14:creationId xmlns:p14="http://schemas.microsoft.com/office/powerpoint/2010/main" val="4162167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E-POA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발급 후 건강검진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PCC 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발급을 실시 </a:t>
            </a:r>
            <a:r>
              <a:rPr lang="en-US" altLang="ko-KR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(E-POA</a:t>
            </a:r>
            <a:r>
              <a:rPr lang="ko-KR" altLang="en-US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발급 후 실시사항만 인정</a:t>
            </a:r>
            <a:r>
              <a:rPr lang="en-US" altLang="ko-KR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b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</a:br>
            <a:endParaRPr lang="ko-KR" altLang="en-US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1. </a:t>
            </a:r>
            <a:r>
              <a:rPr lang="ko-KR" altLang="en-US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비자 안내</a:t>
            </a:r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 - WORK Visa</a:t>
            </a:r>
            <a:endParaRPr lang="ko-KR" altLang="en-US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  <a:p>
            <a:endParaRPr lang="ko-KR" altLang="en-US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4" name="내용 개체 틀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4) </a:t>
            </a:r>
            <a:r>
              <a:rPr lang="ko-KR" altLang="en-US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발급 </a:t>
            </a:r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Process</a:t>
            </a:r>
            <a:endParaRPr lang="ko-KR" altLang="en-US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  <a:p>
            <a:endParaRPr lang="ko-KR" altLang="en-US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277814" y="1211495"/>
            <a:ext cx="4435474" cy="299185"/>
            <a:chOff x="277814" y="1583124"/>
            <a:chExt cx="958441" cy="299185"/>
          </a:xfrm>
        </p:grpSpPr>
        <p:sp>
          <p:nvSpPr>
            <p:cNvPr id="6" name="Line 58"/>
            <p:cNvSpPr>
              <a:spLocks noChangeShapeType="1"/>
            </p:cNvSpPr>
            <p:nvPr/>
          </p:nvSpPr>
          <p:spPr bwMode="gray">
            <a:xfrm>
              <a:off x="277814" y="1870365"/>
              <a:ext cx="9584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0000" rIns="90000" anchor="ctr"/>
            <a:lstStyle/>
            <a:p>
              <a:pPr algn="ctr" latinLnBrk="0">
                <a:defRPr/>
              </a:pPr>
              <a:endParaRPr lang="ko-KR" altLang="en-US" sz="1300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7" name="Text Box 57"/>
            <p:cNvSpPr txBox="1">
              <a:spLocks noChangeArrowheads="1"/>
            </p:cNvSpPr>
            <p:nvPr/>
          </p:nvSpPr>
          <p:spPr bwMode="gray">
            <a:xfrm>
              <a:off x="277814" y="1583124"/>
              <a:ext cx="958441" cy="29918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72000" tIns="46800" rIns="72000" bIns="46800">
              <a:spAutoFit/>
            </a:bodyPr>
            <a:lstStyle>
              <a:lvl1pPr marL="92075" indent="-92075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indent="0" algn="ctr" eaLnBrk="1" latinLnBrk="0" hangingPunct="1">
                <a:lnSpc>
                  <a:spcPct val="95000"/>
                </a:lnSpc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건강 검진</a:t>
              </a: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5246533" y="1211495"/>
            <a:ext cx="4381654" cy="299185"/>
            <a:chOff x="277814" y="1583124"/>
            <a:chExt cx="958441" cy="299185"/>
          </a:xfrm>
        </p:grpSpPr>
        <p:sp>
          <p:nvSpPr>
            <p:cNvPr id="9" name="Line 58"/>
            <p:cNvSpPr>
              <a:spLocks noChangeShapeType="1"/>
            </p:cNvSpPr>
            <p:nvPr/>
          </p:nvSpPr>
          <p:spPr bwMode="gray">
            <a:xfrm>
              <a:off x="277814" y="1870365"/>
              <a:ext cx="9584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0000" rIns="90000" anchor="ctr"/>
            <a:lstStyle/>
            <a:p>
              <a:pPr algn="ctr" latinLnBrk="0">
                <a:defRPr/>
              </a:pPr>
              <a:endParaRPr lang="ko-KR" altLang="en-US" sz="1300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10" name="Text Box 57"/>
            <p:cNvSpPr txBox="1">
              <a:spLocks noChangeArrowheads="1"/>
            </p:cNvSpPr>
            <p:nvPr/>
          </p:nvSpPr>
          <p:spPr bwMode="gray">
            <a:xfrm>
              <a:off x="277814" y="1583124"/>
              <a:ext cx="958441" cy="29918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72000" tIns="46800" rIns="72000" bIns="46800">
              <a:spAutoFit/>
            </a:bodyPr>
            <a:lstStyle>
              <a:lvl1pPr marL="92075" indent="-92075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indent="0" algn="ctr" eaLnBrk="1" latinLnBrk="0" hangingPunct="1">
                <a:lnSpc>
                  <a:spcPct val="95000"/>
                </a:lnSpc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lang="en-US" altLang="ko-KR" sz="14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PCC </a:t>
              </a:r>
              <a:r>
                <a:rPr lang="ko-KR" altLang="en-US" sz="14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발급</a:t>
              </a:r>
            </a:p>
          </p:txBody>
        </p:sp>
      </p:grpSp>
      <p:sp>
        <p:nvSpPr>
          <p:cNvPr id="15" name="직사각형 14"/>
          <p:cNvSpPr/>
          <p:nvPr/>
        </p:nvSpPr>
        <p:spPr>
          <a:xfrm>
            <a:off x="277812" y="1510680"/>
            <a:ext cx="4435476" cy="2912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의뢰서 작성 및 신체검사 실시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검진소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1200" b="1" u="sng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금강아산병원</a:t>
            </a:r>
            <a:r>
              <a:rPr lang="en-US" altLang="ko-KR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2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해외부임자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건강검진 신청서 및 사진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1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장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검진 방법</a:t>
            </a:r>
            <a:b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</a:b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동부이촌동 소재 </a:t>
            </a:r>
            <a:r>
              <a:rPr lang="ko-KR" altLang="en-US" sz="12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금강아산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병원</a:t>
            </a:r>
            <a:b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</a:b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시간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오전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08:20 ~ 12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시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오후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1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시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30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분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~ 4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시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30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분</a:t>
            </a:r>
            <a:b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</a:b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준비물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ko-KR" sz="1200" u="sng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사진 </a:t>
            </a:r>
            <a:r>
              <a:rPr lang="en-US" altLang="ko-KR" sz="1200" u="sng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1</a:t>
            </a:r>
            <a:r>
              <a:rPr lang="ko-KR" altLang="ko-KR" sz="1200" u="sng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장</a:t>
            </a:r>
            <a:r>
              <a:rPr lang="en-US" altLang="ko-KR" sz="1200" u="sng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ko-KR" sz="1200" u="sng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신분증</a:t>
            </a:r>
            <a:r>
              <a:rPr lang="ko-KR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결과 확인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추후 안내 날짜 방문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결재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회사에서 처리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※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검진결과 수령 후 </a:t>
            </a:r>
            <a:r>
              <a:rPr lang="ko-KR" altLang="en-US" sz="12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비자서류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제출시 위임장 및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Declaration 2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장 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</a:t>
            </a:r>
            <a:r>
              <a:rPr lang="ko-KR" altLang="en-US" sz="12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드림투어에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제출 필요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2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공증용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(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위임장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r>
              <a:rPr lang="ko-KR" altLang="en-US" sz="12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인감날인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및 인감증명서 첨부 必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5257522" y="1510680"/>
            <a:ext cx="4370666" cy="1361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비자 서류 구비 시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PCC(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범죄수사경력회보서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발급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(“</a:t>
            </a:r>
            <a:r>
              <a:rPr lang="ko-KR" altLang="en-US" sz="1200" u="sng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범죄 </a:t>
            </a:r>
            <a:r>
              <a:rPr lang="en-US" altLang="ko-KR" sz="1200" u="sng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 </a:t>
            </a:r>
            <a:r>
              <a:rPr lang="ko-KR" altLang="en-US" sz="1200" u="sng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수사경력회보서 반드시 별도 발급 각 </a:t>
            </a:r>
            <a:r>
              <a:rPr lang="en-US" altLang="ko-KR" sz="1200" u="sng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1</a:t>
            </a:r>
            <a:r>
              <a:rPr lang="ko-KR" altLang="en-US" sz="1200" u="sng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부씩</a:t>
            </a:r>
            <a:r>
              <a:rPr lang="en-US" altLang="ko-KR" sz="1200" u="sng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”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민원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24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에서 온라인 발급 가능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 선택 필수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발급목적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외국 입국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체류 허가용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인근 경찰서에서 신분증 제시 시 즉시 출력 발급 가능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8070270" y="3086320"/>
            <a:ext cx="1090363" cy="26161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ko-KR" altLang="en-US" sz="1100" b="1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수사경력</a:t>
            </a:r>
            <a:r>
              <a:rPr lang="ko-KR" altLang="en-US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회보서</a:t>
            </a:r>
            <a:endParaRPr lang="ko-KR" altLang="en-US" sz="1100" b="1" dirty="0"/>
          </a:p>
        </p:txBody>
      </p:sp>
      <p:sp>
        <p:nvSpPr>
          <p:cNvPr id="45" name="직사각형 44"/>
          <p:cNvSpPr/>
          <p:nvPr/>
        </p:nvSpPr>
        <p:spPr>
          <a:xfrm>
            <a:off x="5705408" y="3097806"/>
            <a:ext cx="1090363" cy="26161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ko-KR" altLang="en-US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범죄경력 회보서</a:t>
            </a:r>
            <a:endParaRPr lang="ko-KR" altLang="en-US" sz="1100" b="1" dirty="0"/>
          </a:p>
        </p:txBody>
      </p:sp>
      <p:sp>
        <p:nvSpPr>
          <p:cNvPr id="12" name="왼쪽/오른쪽 화살표 11"/>
          <p:cNvSpPr/>
          <p:nvPr/>
        </p:nvSpPr>
        <p:spPr>
          <a:xfrm>
            <a:off x="7006457" y="2949420"/>
            <a:ext cx="819082" cy="558381"/>
          </a:xfrm>
          <a:prstGeom prst="leftRightArrow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/>
            <a:r>
              <a:rPr lang="ko-KR" altLang="en-US" sz="800" b="1" kern="0" dirty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별도 발급</a:t>
            </a:r>
          </a:p>
        </p:txBody>
      </p:sp>
      <p:pic>
        <p:nvPicPr>
          <p:cNvPr id="14" name="그림 1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6C62C7F7-FD55-FA5A-1C03-B65B1E4707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1274" y="3398797"/>
            <a:ext cx="1763823" cy="2518575"/>
          </a:xfrm>
          <a:prstGeom prst="rect">
            <a:avLst/>
          </a:prstGeom>
        </p:spPr>
      </p:pic>
      <p:pic>
        <p:nvPicPr>
          <p:cNvPr id="17" name="그림 16" descr="텍스트, 스크린샷, 폰트, 평행이(가) 표시된 사진&#10;&#10;자동 생성된 설명">
            <a:extLst>
              <a:ext uri="{FF2B5EF4-FFF2-40B4-BE49-F238E27FC236}">
                <a16:creationId xmlns:a16="http://schemas.microsoft.com/office/drawing/2014/main" id="{68EB3689-B08E-4532-9A8F-EAD2FFBCAA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383" y="3398797"/>
            <a:ext cx="1763823" cy="251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941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비자 서류는 인터뷰 시 원본 제출 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1. </a:t>
            </a:r>
            <a:r>
              <a:rPr lang="ko-KR" altLang="en-US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비자 안내</a:t>
            </a:r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 - WORK Visa</a:t>
            </a:r>
            <a:endParaRPr lang="ko-KR" altLang="en-US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  <a:p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4) </a:t>
            </a:r>
            <a:r>
              <a:rPr lang="ko-KR" altLang="en-US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발급 후 </a:t>
            </a:r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Process</a:t>
            </a:r>
            <a:endParaRPr lang="ko-KR" altLang="en-US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  <a:p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277813" y="1231172"/>
            <a:ext cx="4522787" cy="299185"/>
            <a:chOff x="277814" y="1583124"/>
            <a:chExt cx="958441" cy="299185"/>
          </a:xfrm>
        </p:grpSpPr>
        <p:sp>
          <p:nvSpPr>
            <p:cNvPr id="6" name="Line 58"/>
            <p:cNvSpPr>
              <a:spLocks noChangeShapeType="1"/>
            </p:cNvSpPr>
            <p:nvPr/>
          </p:nvSpPr>
          <p:spPr bwMode="gray">
            <a:xfrm>
              <a:off x="277814" y="1870365"/>
              <a:ext cx="9584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0000" rIns="90000" anchor="ctr"/>
            <a:lstStyle/>
            <a:p>
              <a:pPr algn="ctr" latinLnBrk="0">
                <a:defRPr/>
              </a:pPr>
              <a:endParaRPr lang="ko-KR" altLang="en-US" sz="1300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7" name="Text Box 57"/>
            <p:cNvSpPr txBox="1">
              <a:spLocks noChangeArrowheads="1"/>
            </p:cNvSpPr>
            <p:nvPr/>
          </p:nvSpPr>
          <p:spPr bwMode="gray">
            <a:xfrm>
              <a:off x="277814" y="1583124"/>
              <a:ext cx="958441" cy="29918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72000" tIns="46800" rIns="72000" bIns="46800">
              <a:spAutoFit/>
            </a:bodyPr>
            <a:lstStyle>
              <a:lvl1pPr marL="92075" indent="-92075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indent="0" algn="ctr" eaLnBrk="1" latinLnBrk="0" hangingPunct="1">
                <a:lnSpc>
                  <a:spcPct val="95000"/>
                </a:lnSpc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서류 구비 및 비자 센터 인터뷰</a:t>
              </a: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5085746" y="1231172"/>
            <a:ext cx="4522787" cy="299185"/>
            <a:chOff x="277814" y="1583124"/>
            <a:chExt cx="958441" cy="299185"/>
          </a:xfrm>
        </p:grpSpPr>
        <p:sp>
          <p:nvSpPr>
            <p:cNvPr id="9" name="Line 58"/>
            <p:cNvSpPr>
              <a:spLocks noChangeShapeType="1"/>
            </p:cNvSpPr>
            <p:nvPr/>
          </p:nvSpPr>
          <p:spPr bwMode="gray">
            <a:xfrm>
              <a:off x="277814" y="1870365"/>
              <a:ext cx="9584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0000" rIns="90000" anchor="ctr"/>
            <a:lstStyle/>
            <a:p>
              <a:pPr algn="ctr" latinLnBrk="0">
                <a:defRPr/>
              </a:pPr>
              <a:endParaRPr lang="ko-KR" altLang="en-US" sz="1300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10" name="Text Box 57"/>
            <p:cNvSpPr txBox="1">
              <a:spLocks noChangeArrowheads="1"/>
            </p:cNvSpPr>
            <p:nvPr/>
          </p:nvSpPr>
          <p:spPr bwMode="gray">
            <a:xfrm>
              <a:off x="277814" y="1583124"/>
              <a:ext cx="958441" cy="29918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72000" tIns="46800" rIns="72000" bIns="46800">
              <a:spAutoFit/>
            </a:bodyPr>
            <a:lstStyle>
              <a:lvl1pPr marL="92075" indent="-92075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indent="0" algn="ctr" eaLnBrk="1" latinLnBrk="0" hangingPunct="1">
                <a:lnSpc>
                  <a:spcPct val="95000"/>
                </a:lnSpc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출국 및 부임 항공권</a:t>
              </a:r>
            </a:p>
          </p:txBody>
        </p:sp>
      </p:grpSp>
      <p:sp>
        <p:nvSpPr>
          <p:cNvPr id="11" name="타원 10"/>
          <p:cNvSpPr/>
          <p:nvPr/>
        </p:nvSpPr>
        <p:spPr>
          <a:xfrm>
            <a:off x="5068214" y="1757102"/>
            <a:ext cx="718615" cy="71973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300" b="1" kern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출국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5792265" y="1757102"/>
            <a:ext cx="3699669" cy="830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출국 전 반드시 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E-VISA Paper,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 졸업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성적증명서 </a:t>
            </a:r>
            <a:r>
              <a:rPr lang="ko-KR" altLang="en-US" sz="12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공증본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등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</a:t>
            </a: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비자관련 필수 서류 지참 必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5068214" y="2737701"/>
            <a:ext cx="718615" cy="71973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300" b="1" kern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항공권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5792265" y="2749644"/>
            <a:ext cx="3997137" cy="15699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부임 항공권은 드림투어 통해서 발권하여 입국 필요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*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인사명령확정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(1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차 </a:t>
            </a:r>
            <a:r>
              <a:rPr lang="ko-KR" altLang="en-US" sz="11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원소속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본부 인사명령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2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차 인사실 인사명령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후 </a:t>
            </a:r>
            <a:r>
              <a:rPr lang="ko-KR" altLang="en-US" sz="11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항공권발권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신청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*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인사명령품의 상신 시 서울사무소 인사담당자 참조 지정 必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* </a:t>
            </a:r>
            <a:r>
              <a:rPr lang="ko-KR" altLang="en-US" sz="11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사우디현지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공항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Pickup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및 숙소 준비를 부임항공권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현장 관리파트 공유 必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61187" y="1571233"/>
            <a:ext cx="4795837" cy="26181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제출 서류 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사본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(Authorization letter, 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현지 영문 </a:t>
            </a:r>
            <a:r>
              <a:rPr lang="ko-KR" altLang="en-US" sz="8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고용계약서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E-POA), 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신청서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여권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 졸업증명서 </a:t>
            </a:r>
            <a:r>
              <a:rPr lang="ko-KR" altLang="en-US" sz="8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공증본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 성적증명서 </a:t>
            </a:r>
            <a:r>
              <a:rPr lang="ko-KR" altLang="en-US" sz="8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공증본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필요시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), </a:t>
            </a: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 범죄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수사경력 회보서 각 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1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부 원본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건강검진결과 및 증명서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 재직증명서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 이력서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영문 경력증명서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취업비자 요청 레터</a:t>
            </a:r>
            <a:endParaRPr lang="en-US" altLang="ko-KR" sz="8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서울사무소 비자 담당자에게 제출 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드림투어 담당자 통해 비자 서류 접수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신청서 작성시 사우디 현지 주소 및 연락처</a:t>
            </a:r>
            <a:endParaRPr lang="en-US" altLang="ko-KR" sz="8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 - 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주소 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Novotel Park Business No. 3 Unit 114, Dammam 32232 KSA, </a:t>
            </a: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             HYUNDAI ENGINEERING CO., LTD.</a:t>
            </a: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 - 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연락처 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+966 13 811 9008</a:t>
            </a:r>
          </a:p>
          <a:p>
            <a:pPr marL="171450" indent="-171450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비자 비용정산 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비자센터 인터뷰 시 개인 先 납부 후 환급</a:t>
            </a:r>
            <a:endParaRPr lang="en-US" altLang="ko-KR" sz="8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 - 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비용 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약 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10~15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만원</a:t>
            </a:r>
            <a:endParaRPr lang="en-US" altLang="ko-KR" sz="8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 - 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정산방법 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en-US" altLang="ko-KR" sz="8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Autoway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전자결재 상신 後 </a:t>
            </a:r>
            <a:r>
              <a:rPr lang="ko-KR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현대드림투어비자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visa@hec.co.kr) 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에 정산 요청 메일 송부</a:t>
            </a:r>
            <a:endParaRPr lang="en-US" altLang="ko-KR" sz="8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1) </a:t>
            </a:r>
            <a:r>
              <a:rPr lang="ko-KR" altLang="en-US" sz="8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전자결재방법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결재문서작성 </a:t>
            </a:r>
            <a:r>
              <a:rPr lang="ko-KR" altLang="en-US" sz="800" b="0" i="0" u="none" strike="noStrike" dirty="0"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→ 양식선택 → 해외현장지원 → 비자발급신청서 </a:t>
            </a:r>
            <a:r>
              <a:rPr lang="en-US" altLang="ko-KR" sz="800" b="0" i="0" u="none" strike="noStrike" dirty="0"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(PM</a:t>
            </a:r>
            <a:r>
              <a:rPr lang="ko-KR" altLang="en-US" sz="800" b="0" i="0" u="none" strike="noStrike" dirty="0"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전결 </a:t>
            </a:r>
            <a:r>
              <a:rPr lang="en-US" altLang="ko-KR" sz="800" b="0" i="0" u="none" strike="noStrike" dirty="0"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/ </a:t>
            </a:r>
            <a:r>
              <a:rPr lang="ko-KR" altLang="en-US" sz="800" b="0" i="0" u="none" strike="noStrike" dirty="0"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영수증 첨부 必</a:t>
            </a:r>
            <a:r>
              <a:rPr lang="en-US" altLang="ko-KR" sz="800" b="0" i="0" u="none" strike="noStrike" dirty="0"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800" b="0" i="0" u="none" strike="noStrike" dirty="0"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2) </a:t>
            </a:r>
            <a:r>
              <a:rPr lang="ko-KR" altLang="en-US" sz="8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메일송부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시 성명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비자발급비용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입금계좌번호 작성 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800" b="0" i="0" u="none" strike="noStrike" dirty="0"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영수증 첨부 必 </a:t>
            </a:r>
            <a:r>
              <a:rPr lang="en-US" altLang="ko-KR" sz="800" b="0" i="0" u="none" strike="noStrike" dirty="0"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/ </a:t>
            </a:r>
            <a:r>
              <a:rPr lang="ko-KR" altLang="en-US" sz="800" b="0" i="0" u="none" strike="noStrike" dirty="0"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서울사무소 비자 담당자 참조 </a:t>
            </a:r>
            <a:r>
              <a:rPr lang="en-US" altLang="ko-KR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800" b="0" i="0" u="none" strike="noStrike" dirty="0"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8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</a:t>
            </a:r>
            <a:endParaRPr lang="en-US" altLang="ko-KR" sz="8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792265" y="4367445"/>
            <a:ext cx="4113735" cy="1498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 latinLnBrk="0">
              <a:lnSpc>
                <a:spcPct val="130000"/>
              </a:lnSpc>
            </a:pPr>
            <a:r>
              <a:rPr lang="en-US" altLang="ko-KR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※ </a:t>
            </a:r>
            <a:r>
              <a:rPr lang="ko-KR" altLang="en-US" sz="12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부임 항공권 참고사항 </a:t>
            </a:r>
            <a:endParaRPr lang="en-US" altLang="ko-KR" sz="1200" b="1" kern="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fontAlgn="base" latinLnBrk="0">
              <a:lnSpc>
                <a:spcPct val="130000"/>
              </a:lnSpc>
            </a:pPr>
            <a:r>
              <a:rPr lang="en-US" altLang="ko-KR" sz="12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- </a:t>
            </a:r>
            <a:r>
              <a:rPr lang="ko-KR" altLang="en-US" sz="12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항공사 </a:t>
            </a:r>
            <a:r>
              <a:rPr lang="en-US" altLang="ko-KR" sz="12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1200" kern="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에미레이트</a:t>
            </a:r>
            <a:r>
              <a:rPr lang="en-US" altLang="ko-KR" sz="12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(EK)</a:t>
            </a:r>
            <a:r>
              <a:rPr lang="ko-KR" altLang="en-US" sz="12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2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 </a:t>
            </a:r>
            <a:r>
              <a:rPr lang="ko-KR" altLang="en-US" sz="12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인천</a:t>
            </a:r>
            <a:r>
              <a:rPr lang="en-US" altLang="ko-KR" sz="12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-</a:t>
            </a:r>
            <a:r>
              <a:rPr lang="ko-KR" altLang="en-US" sz="12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두바이</a:t>
            </a:r>
            <a:r>
              <a:rPr lang="en-US" altLang="ko-KR" sz="12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-</a:t>
            </a:r>
            <a:r>
              <a:rPr lang="ko-KR" altLang="en-US" sz="1200" kern="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담맘</a:t>
            </a:r>
            <a:endParaRPr lang="en-US" altLang="ko-KR" sz="1200" kern="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fontAlgn="base" latinLnBrk="0">
              <a:lnSpc>
                <a:spcPct val="130000"/>
              </a:lnSpc>
            </a:pPr>
            <a:r>
              <a:rPr lang="en-US" altLang="ko-KR" sz="12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- </a:t>
            </a:r>
            <a:r>
              <a:rPr lang="ko-KR" altLang="en-US" sz="12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일   정 </a:t>
            </a:r>
            <a:r>
              <a:rPr lang="en-US" altLang="ko-KR" sz="12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23:40(</a:t>
            </a:r>
            <a:r>
              <a:rPr lang="ko-KR" altLang="en-US" sz="12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한국시간</a:t>
            </a:r>
            <a:r>
              <a:rPr lang="en-US" altLang="ko-KR" sz="12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 </a:t>
            </a:r>
            <a:r>
              <a:rPr lang="ko-KR" altLang="en-US" sz="12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출국 </a:t>
            </a:r>
            <a:r>
              <a:rPr lang="en-US" altLang="ko-KR" sz="12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~ </a:t>
            </a:r>
            <a:r>
              <a:rPr lang="ko-KR" altLang="en-US" sz="12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익일 </a:t>
            </a:r>
            <a:r>
              <a:rPr lang="en-US" altLang="ko-KR" sz="12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07:50(</a:t>
            </a:r>
            <a:r>
              <a:rPr lang="ko-KR" altLang="en-US" sz="12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현지시간</a:t>
            </a:r>
            <a:r>
              <a:rPr lang="en-US" altLang="ko-KR" sz="12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 </a:t>
            </a:r>
            <a:r>
              <a:rPr lang="ko-KR" altLang="en-US" sz="12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도착</a:t>
            </a:r>
            <a:endParaRPr lang="en-US" altLang="ko-KR" sz="1200" kern="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fontAlgn="base" latinLnBrk="0">
              <a:lnSpc>
                <a:spcPct val="130000"/>
              </a:lnSpc>
            </a:pPr>
            <a:r>
              <a:rPr lang="en-US" altLang="ko-KR" sz="12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- </a:t>
            </a:r>
            <a:r>
              <a:rPr lang="ko-KR" altLang="en-US" sz="12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수하물 </a:t>
            </a:r>
            <a:r>
              <a:rPr lang="en-US" altLang="ko-KR" sz="12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en-US" altLang="ko-KR" sz="1200" kern="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30Kg</a:t>
            </a:r>
            <a:endParaRPr lang="en-US" altLang="ko-KR" sz="1200" kern="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fontAlgn="base" latinLnBrk="0">
              <a:lnSpc>
                <a:spcPct val="130000"/>
              </a:lnSpc>
            </a:pPr>
            <a:r>
              <a:rPr lang="en-US" altLang="ko-KR" sz="12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</a:t>
            </a:r>
            <a:endParaRPr lang="en-US" altLang="ko-KR" sz="1200" kern="0" dirty="0">
              <a:highlight>
                <a:srgbClr val="FFFF00"/>
              </a:highlight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fontAlgn="base" latinLnBrk="0">
              <a:lnSpc>
                <a:spcPct val="130000"/>
              </a:lnSpc>
            </a:pPr>
            <a:endParaRPr lang="en-US" altLang="ko-KR" sz="1200" kern="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151" y="4423387"/>
            <a:ext cx="4362236" cy="204953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8344" y="4163959"/>
            <a:ext cx="42472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 latinLnBrk="0"/>
            <a:r>
              <a:rPr lang="en-US" altLang="ko-KR" sz="1000" b="1" kern="0" dirty="0">
                <a:solidFill>
                  <a:srgbClr val="0070C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[</a:t>
            </a:r>
            <a:r>
              <a:rPr lang="ko-KR" altLang="en-US" sz="1000" b="1" kern="0" dirty="0">
                <a:solidFill>
                  <a:srgbClr val="0070C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사우디 </a:t>
            </a:r>
            <a:r>
              <a:rPr lang="ko-KR" altLang="en-US" sz="1000" b="1" kern="0" dirty="0" err="1">
                <a:solidFill>
                  <a:srgbClr val="0070C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비자센터</a:t>
            </a:r>
            <a:r>
              <a:rPr lang="ko-KR" altLang="en-US" sz="1000" b="1" kern="0" dirty="0">
                <a:solidFill>
                  <a:srgbClr val="0070C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약도</a:t>
            </a:r>
            <a:r>
              <a:rPr lang="en-US" altLang="ko-KR" sz="1000" b="1" kern="0" dirty="0">
                <a:solidFill>
                  <a:srgbClr val="0070C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]</a:t>
            </a:r>
            <a:endParaRPr lang="ko-KR" altLang="en-US" sz="1000" b="1" kern="0" dirty="0">
              <a:solidFill>
                <a:srgbClr val="0070C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7593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입국 시 한 층 내려가서 입국심사 코너를 거쳐 짐을 찾고 나오면 되며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Pick up 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차량 지원 예정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1. </a:t>
            </a:r>
            <a:r>
              <a:rPr lang="ko-KR" altLang="en-US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비자 안내</a:t>
            </a:r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 - WORK Visa</a:t>
            </a:r>
            <a:endParaRPr lang="ko-KR" altLang="en-US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  <a:p>
            <a:endParaRPr lang="ko-KR" altLang="en-US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4" name="내용 개체 틀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5) </a:t>
            </a:r>
            <a:r>
              <a:rPr lang="ko-KR" altLang="en-US">
                <a:latin typeface="현대하모니 B" panose="02020603020101020101" pitchFamily="18" charset="-127"/>
                <a:ea typeface="현대하모니 B" panose="02020603020101020101" pitchFamily="18" charset="-127"/>
              </a:rPr>
              <a:t>입국 심사</a:t>
            </a:r>
          </a:p>
          <a:p>
            <a:endParaRPr lang="ko-KR" altLang="en-US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248800" y="1150995"/>
            <a:ext cx="718615" cy="71973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300" b="1" kern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입국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084013" y="1054080"/>
            <a:ext cx="8544175" cy="14586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비행기 하차 후 입국 </a:t>
            </a:r>
            <a:r>
              <a:rPr lang="ko-KR" altLang="en-US" sz="13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심사대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이동 → 입국심사 →  입국</a:t>
            </a:r>
            <a:endParaRPr lang="en-US" altLang="ko-KR" sz="13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입국심사 코너에서 </a:t>
            </a:r>
            <a:r>
              <a:rPr lang="ko-KR" altLang="en-US" sz="1300" dirty="0">
                <a:solidFill>
                  <a:srgbClr val="00B0F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여권 원본 및 </a:t>
            </a:r>
            <a:r>
              <a:rPr lang="en-US" altLang="ko-KR" sz="1300" dirty="0">
                <a:solidFill>
                  <a:srgbClr val="00B0F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E-VISA</a:t>
            </a:r>
            <a:r>
              <a:rPr lang="ko-KR" altLang="en-US" sz="1300" dirty="0">
                <a:solidFill>
                  <a:srgbClr val="00B0F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화면</a:t>
            </a:r>
            <a:r>
              <a:rPr lang="en-US" altLang="ko-KR" sz="1300" dirty="0">
                <a:solidFill>
                  <a:srgbClr val="00B0F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300" dirty="0">
                <a:solidFill>
                  <a:srgbClr val="00B0F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혹은 비자 스티커</a:t>
            </a:r>
            <a:r>
              <a:rPr lang="en-US" altLang="ko-KR" sz="1300" dirty="0">
                <a:solidFill>
                  <a:srgbClr val="00B0F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제시 </a:t>
            </a:r>
            <a:r>
              <a:rPr lang="en-US" altLang="ko-KR" sz="1300" dirty="0">
                <a:solidFill>
                  <a:srgbClr val="00B0F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(E-VISA </a:t>
            </a:r>
            <a:r>
              <a:rPr lang="ko-KR" altLang="en-US" sz="1300" dirty="0">
                <a:solidFill>
                  <a:srgbClr val="00B0F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화면 출력하여 지참 및 제시 권장</a:t>
            </a:r>
            <a:r>
              <a:rPr lang="en-US" altLang="ko-KR" sz="1300" dirty="0">
                <a:solidFill>
                  <a:srgbClr val="00B0F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300" dirty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(</a:t>
            </a:r>
            <a:r>
              <a:rPr lang="ko-KR" altLang="en-US" sz="1300" dirty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여권에 입국 스탬프 및 아랍어 숫자</a:t>
            </a:r>
            <a:r>
              <a:rPr lang="en-US" altLang="ko-KR" sz="1300" dirty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300" dirty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기재 확인 必</a:t>
            </a:r>
            <a:r>
              <a:rPr lang="en-US" altLang="ko-KR" sz="1300" dirty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주류 및 돼지고기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종교관련 물품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불온서적 등 전수검사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. </a:t>
            </a:r>
            <a:r>
              <a:rPr lang="ko-KR" altLang="en-US" sz="13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적발시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즉시 추방 및 구류조치 됨으로 주의</a:t>
            </a:r>
            <a:endParaRPr lang="en-US" altLang="ko-KR" sz="13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300" dirty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</a:t>
            </a:r>
            <a:endParaRPr lang="en-US" altLang="ko-KR" sz="1300" b="1" dirty="0">
              <a:solidFill>
                <a:srgbClr val="FF000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48233" y="2419971"/>
            <a:ext cx="2491055" cy="298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0">
              <a:lnSpc>
                <a:spcPct val="130000"/>
              </a:lnSpc>
            </a:pPr>
            <a:r>
              <a:rPr lang="en-US" altLang="ko-KR" sz="12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[</a:t>
            </a:r>
            <a:r>
              <a:rPr lang="ko-KR" altLang="en-US" sz="12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입국일 스탬프 및 아랍어 숫자 예시</a:t>
            </a:r>
            <a:r>
              <a:rPr lang="en-US" altLang="ko-KR" sz="12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]</a:t>
            </a:r>
            <a:endParaRPr lang="ko-KR" altLang="en-US" sz="1200" b="1" kern="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71845" y="2419971"/>
            <a:ext cx="1995880" cy="298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0">
              <a:lnSpc>
                <a:spcPct val="130000"/>
              </a:lnSpc>
            </a:pPr>
            <a:r>
              <a:rPr lang="en-US" altLang="ko-KR" sz="12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[</a:t>
            </a:r>
            <a:r>
              <a:rPr lang="ko-KR" altLang="en-US" sz="12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2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E-VISA </a:t>
            </a:r>
            <a:r>
              <a:rPr lang="ko-KR" altLang="en-US" sz="12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화면</a:t>
            </a:r>
            <a:r>
              <a:rPr lang="en-US" altLang="ko-KR" sz="12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]</a:t>
            </a:r>
            <a:endParaRPr lang="ko-KR" altLang="en-US" sz="1200" b="1" kern="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66" name="타원 65"/>
          <p:cNvSpPr/>
          <p:nvPr/>
        </p:nvSpPr>
        <p:spPr>
          <a:xfrm>
            <a:off x="248800" y="5826900"/>
            <a:ext cx="718615" cy="71973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lnSpc>
                <a:spcPct val="130000"/>
              </a:lnSpc>
            </a:pPr>
            <a:r>
              <a:rPr lang="en-US" altLang="ko-KR" sz="1300" b="1" kern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Pick up</a:t>
            </a:r>
            <a:endParaRPr lang="ko-KR" altLang="en-US" sz="1300" b="1" kern="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980777" y="5908514"/>
            <a:ext cx="8544175" cy="601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현장 차량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드라이버 지원 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드라이버가 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Picket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을 들고 대기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  <a:p>
            <a:pPr marL="180975" indent="-180975"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비상시 공항 </a:t>
            </a:r>
            <a:r>
              <a:rPr lang="en-US" altLang="ko-KR" sz="13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Wifi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를 이용한 카카오톡 </a:t>
            </a:r>
            <a:r>
              <a:rPr lang="ko-KR" altLang="en-US" sz="13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보이스톡을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이용하여 연락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이호수 매니저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카카오톡 연락처 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010-5905-0333)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38C137F-6B47-5B92-D6A6-A9B8840E0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272" y="2719461"/>
            <a:ext cx="2648975" cy="2514433"/>
          </a:xfrm>
          <a:prstGeom prst="rect">
            <a:avLst/>
          </a:prstGeom>
        </p:spPr>
      </p:pic>
      <p:pic>
        <p:nvPicPr>
          <p:cNvPr id="7" name="그림 6" descr="텍스트, 스크린샷, 사람, 문서이(가) 표시된 사진&#10;&#10;자동 생성된 설명">
            <a:extLst>
              <a:ext uri="{FF2B5EF4-FFF2-40B4-BE49-F238E27FC236}">
                <a16:creationId xmlns:a16="http://schemas.microsoft.com/office/drawing/2014/main" id="{CC8A8419-FDB7-AD06-ECF5-948158D333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755" y="2718579"/>
            <a:ext cx="2044307" cy="2949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547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9F2CAE8-69B2-F4D1-21D2-409615DAE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5" y="1783711"/>
            <a:ext cx="4281353" cy="4163084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2. </a:t>
            </a:r>
            <a:r>
              <a:rPr lang="ko-KR" altLang="en-US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현장 및 숙소 위치 안내</a:t>
            </a:r>
          </a:p>
        </p:txBody>
      </p:sp>
      <p:sp>
        <p:nvSpPr>
          <p:cNvPr id="9" name="내용 개체 틀 1"/>
          <p:cNvSpPr>
            <a:spLocks noGrp="1"/>
          </p:cNvSpPr>
          <p:nvPr>
            <p:ph sz="quarter" idx="12"/>
          </p:nvPr>
        </p:nvSpPr>
        <p:spPr>
          <a:xfrm>
            <a:off x="277618" y="697989"/>
            <a:ext cx="9350569" cy="734930"/>
          </a:xfrm>
        </p:spPr>
        <p:txBody>
          <a:bodyPr/>
          <a:lstStyle/>
          <a:p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현장 사무실은 사우디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동부 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Dammam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시티 북쪽 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95Km 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떨어져 있음</a:t>
            </a:r>
          </a:p>
        </p:txBody>
      </p:sp>
      <p:sp>
        <p:nvSpPr>
          <p:cNvPr id="10" name="내용 개체 틀 3"/>
          <p:cNvSpPr>
            <a:spLocks noGrp="1"/>
          </p:cNvSpPr>
          <p:nvPr>
            <p:ph sz="quarter" idx="14"/>
          </p:nvPr>
        </p:nvSpPr>
        <p:spPr>
          <a:xfrm>
            <a:off x="5068791" y="184947"/>
            <a:ext cx="4559398" cy="374625"/>
          </a:xfrm>
        </p:spPr>
        <p:txBody>
          <a:bodyPr/>
          <a:lstStyle/>
          <a:p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[</a:t>
            </a:r>
            <a:r>
              <a:rPr lang="ko-KR" altLang="en-US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참고</a:t>
            </a:r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] </a:t>
            </a:r>
            <a:r>
              <a:rPr lang="ko-KR" altLang="en-US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사우디 내부 위치도</a:t>
            </a:r>
          </a:p>
        </p:txBody>
      </p:sp>
      <p:sp>
        <p:nvSpPr>
          <p:cNvPr id="12" name="타원 11"/>
          <p:cNvSpPr/>
          <p:nvPr/>
        </p:nvSpPr>
        <p:spPr>
          <a:xfrm>
            <a:off x="3634155" y="5470098"/>
            <a:ext cx="144000" cy="1440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lnSpc>
                <a:spcPct val="130000"/>
              </a:lnSpc>
            </a:pPr>
            <a:r>
              <a:rPr lang="en-US" altLang="ko-KR" sz="1200" b="1" kern="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120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902344" y="2836725"/>
            <a:ext cx="144000" cy="1440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lnSpc>
                <a:spcPct val="130000"/>
              </a:lnSpc>
            </a:pPr>
            <a:r>
              <a:rPr lang="en-US" altLang="ko-KR" sz="1200" b="1" kern="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1200" b="1" kern="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026" name="Picture 2" descr="비행기 아이콘에 대한 이미지 검색결과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838" y="5064949"/>
            <a:ext cx="211254" cy="211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그룹 15"/>
          <p:cNvGrpSpPr/>
          <p:nvPr/>
        </p:nvGrpSpPr>
        <p:grpSpPr>
          <a:xfrm>
            <a:off x="277814" y="1338626"/>
            <a:ext cx="4251593" cy="287241"/>
            <a:chOff x="6102673" y="1703288"/>
            <a:chExt cx="3239789" cy="287241"/>
          </a:xfrm>
        </p:grpSpPr>
        <p:sp>
          <p:nvSpPr>
            <p:cNvPr id="17" name="Line 58"/>
            <p:cNvSpPr>
              <a:spLocks noChangeShapeType="1"/>
            </p:cNvSpPr>
            <p:nvPr/>
          </p:nvSpPr>
          <p:spPr bwMode="gray">
            <a:xfrm>
              <a:off x="6102673" y="1990529"/>
              <a:ext cx="32397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0000" rIns="90000" anchor="ctr"/>
            <a:lstStyle/>
            <a:p>
              <a:pPr algn="ctr" latinLnBrk="0">
                <a:defRPr/>
              </a:pPr>
              <a:endParaRPr lang="ko-KR" altLang="en-US" sz="1300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18" name="Text Box 57"/>
            <p:cNvSpPr txBox="1">
              <a:spLocks noChangeArrowheads="1"/>
            </p:cNvSpPr>
            <p:nvPr/>
          </p:nvSpPr>
          <p:spPr bwMode="gray">
            <a:xfrm>
              <a:off x="6102673" y="1703288"/>
              <a:ext cx="3239788" cy="28456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46800" rIns="90000" bIns="46800">
              <a:spAutoFit/>
            </a:bodyPr>
            <a:lstStyle>
              <a:lvl1pPr marL="92075" indent="-92075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latinLnBrk="0" hangingPunct="1">
                <a:lnSpc>
                  <a:spcPct val="95000"/>
                </a:lnSpc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lang="ko-KR" altLang="en-US" sz="13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사우디 지도</a:t>
              </a: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4666133" y="1338626"/>
            <a:ext cx="4962055" cy="287241"/>
            <a:chOff x="6102673" y="1703288"/>
            <a:chExt cx="3239789" cy="287241"/>
          </a:xfrm>
        </p:grpSpPr>
        <p:sp>
          <p:nvSpPr>
            <p:cNvPr id="20" name="Line 58"/>
            <p:cNvSpPr>
              <a:spLocks noChangeShapeType="1"/>
            </p:cNvSpPr>
            <p:nvPr/>
          </p:nvSpPr>
          <p:spPr bwMode="gray">
            <a:xfrm>
              <a:off x="6102673" y="1990529"/>
              <a:ext cx="32397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0000" rIns="90000" anchor="ctr"/>
            <a:lstStyle/>
            <a:p>
              <a:pPr algn="ctr" latinLnBrk="0">
                <a:defRPr/>
              </a:pPr>
              <a:endParaRPr lang="ko-KR" altLang="en-US" sz="1300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21" name="Text Box 57"/>
            <p:cNvSpPr txBox="1">
              <a:spLocks noChangeArrowheads="1"/>
            </p:cNvSpPr>
            <p:nvPr/>
          </p:nvSpPr>
          <p:spPr bwMode="gray">
            <a:xfrm>
              <a:off x="6102673" y="1703288"/>
              <a:ext cx="3239788" cy="28456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46800" rIns="90000" bIns="46800">
              <a:spAutoFit/>
            </a:bodyPr>
            <a:lstStyle>
              <a:lvl1pPr marL="92075" indent="-92075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latinLnBrk="0" hangingPunct="1">
                <a:lnSpc>
                  <a:spcPct val="95000"/>
                </a:lnSpc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lang="ko-KR" altLang="en-US" sz="1300" b="1" kern="0" dirty="0">
                  <a:solidFill>
                    <a:srgbClr val="000000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상세 사항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D1F451A-6AD2-4AB2-116A-CF2396CF13B2}"/>
              </a:ext>
            </a:extLst>
          </p:cNvPr>
          <p:cNvGrpSpPr/>
          <p:nvPr/>
        </p:nvGrpSpPr>
        <p:grpSpPr>
          <a:xfrm>
            <a:off x="4641773" y="1737237"/>
            <a:ext cx="5395912" cy="333040"/>
            <a:chOff x="4352925" y="1733159"/>
            <a:chExt cx="5395912" cy="333040"/>
          </a:xfrm>
        </p:grpSpPr>
        <p:sp>
          <p:nvSpPr>
            <p:cNvPr id="23" name="TextBox 22"/>
            <p:cNvSpPr txBox="1"/>
            <p:nvPr/>
          </p:nvSpPr>
          <p:spPr>
            <a:xfrm>
              <a:off x="4367788" y="1733159"/>
              <a:ext cx="5381049" cy="3330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7800" indent="-177800" latinLnBrk="0">
                <a:lnSpc>
                  <a:spcPct val="130000"/>
                </a:lnSpc>
                <a:spcBef>
                  <a:spcPts val="100"/>
                </a:spcBef>
                <a:spcAft>
                  <a:spcPts val="1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사우디 지사 </a:t>
              </a:r>
              <a:r>
                <a:rPr lang="en-US" altLang="ko-KR" sz="14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HEC : </a:t>
              </a:r>
              <a:r>
                <a:rPr lang="en-US" altLang="ko-KR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Dammam </a:t>
              </a:r>
              <a:r>
                <a:rPr lang="ko-KR" altLang="en-US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지역</a:t>
              </a:r>
              <a:r>
                <a:rPr lang="en-US" altLang="ko-KR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, Novotel Park 4</a:t>
              </a:r>
              <a:r>
                <a:rPr lang="ko-KR" altLang="en-US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층 위치</a:t>
              </a:r>
              <a:endPara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22" name="타원 21"/>
            <p:cNvSpPr/>
            <p:nvPr/>
          </p:nvSpPr>
          <p:spPr>
            <a:xfrm>
              <a:off x="4352925" y="1820109"/>
              <a:ext cx="216000" cy="2160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lnSpc>
                  <a:spcPct val="130000"/>
                </a:lnSpc>
              </a:pPr>
              <a:r>
                <a:rPr lang="en-US" altLang="ko-KR" sz="1200" b="1" kern="0" dirty="0">
                  <a:solidFill>
                    <a:schemeClr val="bg1"/>
                  </a:solidFill>
                  <a:latin typeface="+mn-ea"/>
                </a:rPr>
                <a:t>1</a:t>
              </a:r>
              <a:endParaRPr lang="ko-KR" altLang="en-US" sz="1200" b="1" kern="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7FB99F6-3D4A-04CA-8368-49E2E38BEFD1}"/>
              </a:ext>
            </a:extLst>
          </p:cNvPr>
          <p:cNvGrpSpPr/>
          <p:nvPr/>
        </p:nvGrpSpPr>
        <p:grpSpPr>
          <a:xfrm>
            <a:off x="4641773" y="2127137"/>
            <a:ext cx="5275263" cy="333040"/>
            <a:chOff x="4358008" y="2142683"/>
            <a:chExt cx="5275263" cy="333040"/>
          </a:xfrm>
        </p:grpSpPr>
        <p:sp>
          <p:nvSpPr>
            <p:cNvPr id="25" name="TextBox 24"/>
            <p:cNvSpPr txBox="1"/>
            <p:nvPr/>
          </p:nvSpPr>
          <p:spPr>
            <a:xfrm>
              <a:off x="4372871" y="2142683"/>
              <a:ext cx="5260400" cy="3330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7800" indent="-177800" latinLnBrk="0">
                <a:lnSpc>
                  <a:spcPct val="130000"/>
                </a:lnSpc>
                <a:spcBef>
                  <a:spcPts val="100"/>
                </a:spcBef>
                <a:spcAft>
                  <a:spcPts val="1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숙소 </a:t>
              </a:r>
              <a:r>
                <a:rPr lang="en-US" altLang="ko-KR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: Jubail </a:t>
              </a:r>
              <a:r>
                <a:rPr lang="ko-KR" altLang="en-US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지역 내 </a:t>
              </a:r>
              <a:r>
                <a:rPr lang="en-US" altLang="ko-KR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Karan Compound</a:t>
              </a:r>
            </a:p>
          </p:txBody>
        </p:sp>
        <p:sp>
          <p:nvSpPr>
            <p:cNvPr id="24" name="타원 23"/>
            <p:cNvSpPr/>
            <p:nvPr/>
          </p:nvSpPr>
          <p:spPr>
            <a:xfrm>
              <a:off x="4358008" y="2221306"/>
              <a:ext cx="216000" cy="2160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lnSpc>
                  <a:spcPct val="130000"/>
                </a:lnSpc>
              </a:pPr>
              <a:r>
                <a:rPr lang="en-US" altLang="ko-KR" sz="1200" b="1" kern="0" dirty="0">
                  <a:solidFill>
                    <a:schemeClr val="bg1"/>
                  </a:solidFill>
                  <a:latin typeface="+mn-ea"/>
                </a:rPr>
                <a:t>2</a:t>
              </a:r>
              <a:endParaRPr lang="ko-KR" altLang="en-US" sz="1200" b="1" kern="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3505793" y="5587110"/>
            <a:ext cx="1567102" cy="305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200" b="1" dirty="0">
                <a:latin typeface="+mn-ea"/>
              </a:rPr>
              <a:t>지사 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45314" y="2930417"/>
            <a:ext cx="559905" cy="332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200" b="1" dirty="0">
                <a:latin typeface="+mn-ea"/>
              </a:rPr>
              <a:t>현장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2083859" y="3217978"/>
            <a:ext cx="594233" cy="270103"/>
          </a:xfrm>
          <a:prstGeom prst="rect">
            <a:avLst/>
          </a:prstGeom>
          <a:noFill/>
          <a:ln w="9525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시간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30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분</a:t>
            </a:r>
          </a:p>
        </p:txBody>
      </p:sp>
      <p:sp>
        <p:nvSpPr>
          <p:cNvPr id="40" name="타원 39"/>
          <p:cNvSpPr/>
          <p:nvPr/>
        </p:nvSpPr>
        <p:spPr>
          <a:xfrm>
            <a:off x="1413159" y="1983137"/>
            <a:ext cx="144000" cy="1440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lnSpc>
                <a:spcPct val="130000"/>
              </a:lnSpc>
            </a:pPr>
            <a:r>
              <a:rPr lang="en-US" altLang="ko-KR" sz="1200" b="1" kern="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1200" b="1" kern="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55" name="직선 화살표 연결선 54"/>
          <p:cNvCxnSpPr>
            <a:cxnSpLocks/>
          </p:cNvCxnSpPr>
          <p:nvPr/>
        </p:nvCxnSpPr>
        <p:spPr>
          <a:xfrm flipH="1" flipV="1">
            <a:off x="1530817" y="2168968"/>
            <a:ext cx="982916" cy="2868303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B54683-F29F-DE92-2418-CA34E5979CDB}"/>
              </a:ext>
            </a:extLst>
          </p:cNvPr>
          <p:cNvSpPr txBox="1"/>
          <p:nvPr/>
        </p:nvSpPr>
        <p:spPr>
          <a:xfrm>
            <a:off x="1523809" y="1911097"/>
            <a:ext cx="1567102" cy="305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200" b="1" dirty="0">
                <a:latin typeface="+mn-ea"/>
              </a:rPr>
              <a:t>숙소</a:t>
            </a:r>
            <a:endParaRPr lang="en-US" altLang="ko-KR" sz="1200" b="1" dirty="0">
              <a:latin typeface="+mn-ea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C21E04C-D8D5-C859-D3AA-182A3B689A0A}"/>
              </a:ext>
            </a:extLst>
          </p:cNvPr>
          <p:cNvCxnSpPr>
            <a:cxnSpLocks/>
          </p:cNvCxnSpPr>
          <p:nvPr/>
        </p:nvCxnSpPr>
        <p:spPr>
          <a:xfrm flipV="1">
            <a:off x="1044780" y="2168968"/>
            <a:ext cx="377529" cy="648746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6EE5564-9869-8053-71DF-934B687CE922}"/>
              </a:ext>
            </a:extLst>
          </p:cNvPr>
          <p:cNvSpPr/>
          <p:nvPr/>
        </p:nvSpPr>
        <p:spPr>
          <a:xfrm>
            <a:off x="862416" y="2323098"/>
            <a:ext cx="349865" cy="234835"/>
          </a:xfrm>
          <a:prstGeom prst="rect">
            <a:avLst/>
          </a:prstGeom>
          <a:noFill/>
          <a:ln w="9525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40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분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746BCB8D-4732-B7C0-D17E-FF646EC7A0DD}"/>
              </a:ext>
            </a:extLst>
          </p:cNvPr>
          <p:cNvGrpSpPr/>
          <p:nvPr/>
        </p:nvGrpSpPr>
        <p:grpSpPr>
          <a:xfrm>
            <a:off x="4656636" y="2513462"/>
            <a:ext cx="5270720" cy="333040"/>
            <a:chOff x="4357468" y="2592413"/>
            <a:chExt cx="5270720" cy="33304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4208F97-C412-5F66-91B9-9B74F9831A23}"/>
                </a:ext>
              </a:extLst>
            </p:cNvPr>
            <p:cNvSpPr txBox="1"/>
            <p:nvPr/>
          </p:nvSpPr>
          <p:spPr>
            <a:xfrm>
              <a:off x="4367788" y="2592413"/>
              <a:ext cx="5260400" cy="3330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7800" indent="-177800" latinLnBrk="0">
                <a:lnSpc>
                  <a:spcPct val="130000"/>
                </a:lnSpc>
                <a:spcBef>
                  <a:spcPts val="100"/>
                </a:spcBef>
                <a:spcAft>
                  <a:spcPts val="1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현장 </a:t>
              </a:r>
              <a:r>
                <a:rPr lang="en-US" altLang="ko-KR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: </a:t>
              </a:r>
              <a:r>
                <a:rPr lang="ko-KR" altLang="en-US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숙소에서 차로 </a:t>
              </a:r>
              <a:r>
                <a:rPr lang="en-US" altLang="ko-KR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40</a:t>
              </a:r>
              <a:r>
                <a:rPr lang="ko-KR" altLang="en-US" sz="14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분 거리에 위치 </a:t>
              </a:r>
              <a:endPara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B7B5C6FA-8F55-A3C1-0C3D-38B1B6D07FD9}"/>
                </a:ext>
              </a:extLst>
            </p:cNvPr>
            <p:cNvSpPr/>
            <p:nvPr/>
          </p:nvSpPr>
          <p:spPr>
            <a:xfrm>
              <a:off x="4357468" y="2662245"/>
              <a:ext cx="216000" cy="2160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latinLnBrk="0">
                <a:lnSpc>
                  <a:spcPct val="130000"/>
                </a:lnSpc>
              </a:pPr>
              <a:r>
                <a:rPr lang="en-US" altLang="ko-KR" sz="1200" b="1" kern="0" dirty="0">
                  <a:solidFill>
                    <a:schemeClr val="bg1"/>
                  </a:solidFill>
                  <a:latin typeface="+mn-ea"/>
                </a:rPr>
                <a:t>3</a:t>
              </a:r>
              <a:endParaRPr lang="ko-KR" altLang="en-US" sz="1200" b="1" kern="0" dirty="0">
                <a:solidFill>
                  <a:schemeClr val="bg1"/>
                </a:solidFill>
                <a:latin typeface="+mn-ea"/>
              </a:endParaRPr>
            </a:p>
          </p:txBody>
        </p:sp>
      </p:grpSp>
      <p:pic>
        <p:nvPicPr>
          <p:cNvPr id="32" name="그림 31">
            <a:extLst>
              <a:ext uri="{FF2B5EF4-FFF2-40B4-BE49-F238E27FC236}">
                <a16:creationId xmlns:a16="http://schemas.microsoft.com/office/drawing/2014/main" id="{8A872FBF-0906-026F-8B16-CE9A6C2081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6133" y="2986413"/>
            <a:ext cx="3524031" cy="2955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592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핸드폰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현금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기타 준비 물품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현장 </a:t>
            </a:r>
            <a:r>
              <a:rPr lang="ko-KR" altLang="en-US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지급품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안내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3. </a:t>
            </a:r>
            <a:r>
              <a:rPr lang="ko-KR" altLang="en-US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생활 안내</a:t>
            </a:r>
          </a:p>
          <a:p>
            <a:endParaRPr lang="ko-KR" altLang="en-US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4" name="내용 개체 틀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1) </a:t>
            </a:r>
            <a:r>
              <a:rPr lang="ko-KR" altLang="en-US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개인용품 준비</a:t>
            </a:r>
          </a:p>
          <a:p>
            <a:endParaRPr lang="ko-KR" altLang="en-US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153876"/>
              </p:ext>
            </p:extLst>
          </p:nvPr>
        </p:nvGraphicFramePr>
        <p:xfrm>
          <a:off x="393245" y="1270890"/>
          <a:ext cx="9115765" cy="4795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1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908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구 분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내 용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1191"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핸드폰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후불 유심카드 지급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IT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담당자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총무 담당자 지급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숙소 내 와이파이 이용 가능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비밀번호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en-US" alt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karan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9723"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현금 준비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개인이 주말 등 필요한 현금 환전 준비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달러 → 공항에서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SAR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환전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가능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대부분 지역에서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VISA/MASTER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카드 가능하나 일부 현금 필요한 경우 有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8255"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기타 준비 물품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개인 용품 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의복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신발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슬리퍼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욕실 및 내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외부용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), 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수건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세면도구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개인화장품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손톱깎이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선글라스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개인 상비약 등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</a:t>
                      </a:r>
                    </a:p>
                    <a:p>
                      <a:pPr marL="171450" marR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현지국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동절기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(11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월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~2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월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에는 아침 저녁으로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5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도 이하로 떨어지기도 함</a:t>
                      </a:r>
                      <a:r>
                        <a:rPr lang="en-US" altLang="ko-KR" sz="1200" u="none" strike="noStrike" baseline="0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(</a:t>
                      </a:r>
                      <a:r>
                        <a:rPr lang="ko-KR" altLang="en-US" sz="1200" u="none" strike="noStrike" baseline="0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반드시 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얇은 패딩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동복은 필수 사항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※ 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한국에서 쉽게 구할 수 있는 각종 생활 잡화는 현지에서 구매하기 어려우며 현지물가 高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20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부임시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가급적</a:t>
                      </a:r>
                      <a:r>
                        <a:rPr lang="ko-KR" altLang="en-US" sz="1200" u="none" strike="noStrike" baseline="0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가져오시기를 권고</a:t>
                      </a:r>
                      <a:endParaRPr lang="en-US" altLang="ko-KR" sz="1200" u="none" strike="noStrike" baseline="0" dirty="0"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u="none" strike="noStrike" baseline="0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  ex.) 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슬리퍼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욕실화 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슬리퍼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욕실화를 구하기 어려움</a:t>
                      </a:r>
                      <a:r>
                        <a:rPr lang="en-US" altLang="ko-KR" sz="1200" u="none" strike="noStrike" baseline="0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120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숙소 내 욕실화 비치 되어있지 않음</a:t>
                      </a:r>
                      <a:r>
                        <a:rPr lang="en-US" altLang="ko-KR" sz="120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20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9723"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현장 </a:t>
                      </a:r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지급품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피복류          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근무복</a:t>
                      </a:r>
                      <a:r>
                        <a:rPr lang="en-US" altLang="ko-KR" sz="1200" u="none" strike="noStrike" baseline="0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200" u="none" strike="noStrike" baseline="0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커버롤</a:t>
                      </a:r>
                      <a:r>
                        <a:rPr lang="en-US" altLang="ko-KR" sz="1200" u="none" strike="noStrike" baseline="0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ko-KR" altLang="en-US" sz="1200" u="none" strike="noStrike" baseline="0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지급</a:t>
                      </a:r>
                      <a:endParaRPr lang="en-US" altLang="ko-KR" sz="1200" u="none" strike="noStrike" dirty="0"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171450" marR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개인용 모니터</a:t>
                      </a:r>
                      <a:r>
                        <a:rPr lang="ko-KR" altLang="en-US" sz="8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부임 시 지급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(24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인치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), </a:t>
                      </a:r>
                      <a:r>
                        <a:rPr lang="ko-KR" altLang="en-US" sz="120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랩탑은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해외 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AD 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설치 후 부임 必</a:t>
                      </a:r>
                      <a:endParaRPr lang="en-US" altLang="ko-KR" sz="1200" u="none" strike="noStrike" dirty="0"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171450" marR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PPE      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  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현장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도착 후 </a:t>
                      </a:r>
                      <a:r>
                        <a:rPr lang="en-US" altLang="ko-KR" sz="1200" u="sng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Safety</a:t>
                      </a:r>
                      <a:r>
                        <a:rPr lang="en-US" altLang="ko-KR" sz="1200" u="sng" strike="noStrike" baseline="0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Induction </a:t>
                      </a:r>
                      <a:r>
                        <a:rPr lang="ko-KR" altLang="en-US" sz="1200" u="sng" strike="noStrike" baseline="0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후 수령 </a:t>
                      </a:r>
                      <a:r>
                        <a:rPr lang="en-US" altLang="ko-KR" sz="1200" u="none" strike="noStrike" baseline="0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안전화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안전모 外 기타 안전용품 필요시 지급</a:t>
                      </a:r>
                      <a:r>
                        <a:rPr lang="en-US" altLang="ko-KR" sz="12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9946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근무 생활 안내 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(9/16 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부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endParaRPr lang="ko-KR" altLang="en-US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3. </a:t>
            </a:r>
            <a:r>
              <a:rPr lang="ko-KR" altLang="en-US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생활 안내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2) </a:t>
            </a:r>
            <a:r>
              <a:rPr lang="ko-KR" altLang="en-US">
                <a:latin typeface="현대하모니 B" panose="02020603020101020101" pitchFamily="18" charset="-127"/>
                <a:ea typeface="현대하모니 B" panose="02020603020101020101" pitchFamily="18" charset="-127"/>
              </a:rPr>
              <a:t>근무 생활</a:t>
            </a:r>
            <a:endParaRPr lang="ko-KR" altLang="en-US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372949"/>
              </p:ext>
            </p:extLst>
          </p:nvPr>
        </p:nvGraphicFramePr>
        <p:xfrm>
          <a:off x="396990" y="1270890"/>
          <a:ext cx="9350373" cy="46761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8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6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16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98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구 분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내 용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구 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내 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8110"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근무시간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[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일반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근무 시간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]</a:t>
                      </a:r>
                    </a:p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오전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6:00 ~ 12:00 </a:t>
                      </a:r>
                    </a:p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오후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13:30 ~ 17:30</a:t>
                      </a:r>
                    </a:p>
                    <a:p>
                      <a:pPr marL="0" indent="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※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현지 매주 금요일 및 격주 토요일 휴일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출퇴근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[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출퇴근버스 운행 시간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]</a:t>
                      </a:r>
                    </a:p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출근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5:15 (Hotel to Site)</a:t>
                      </a:r>
                    </a:p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퇴근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17:40 (Site to Hotel)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8110"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식사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[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평일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]</a:t>
                      </a:r>
                    </a:p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아침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04:30 ~ 05:30 (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숙소 식당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점심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12:00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~ 13:00 (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현장 식당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저녁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18:00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~ 19:00 (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숙소 식당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</a:t>
                      </a:r>
                    </a:p>
                    <a:p>
                      <a:pPr marL="0" indent="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[ 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주말 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]</a:t>
                      </a:r>
                    </a:p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아침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07:00 ~ 08:00 (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숙소 식당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점심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12:00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~ 13:00 (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숙소 식당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저녁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18:00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~ 19:00 (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숙소 식당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전화 사용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altLang="ko-KR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핸드폰 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현지 지급 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USIM 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으로 현지 전화 사용</a:t>
                      </a:r>
                      <a:endParaRPr lang="en-US" altLang="ko-KR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indent="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           What’s app 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내 음성통화 불가 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사우디 정책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0" indent="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           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카카오톡 음성통화 가능</a:t>
                      </a:r>
                      <a:endParaRPr lang="en-US" altLang="ko-KR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altLang="ko-KR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현장 전화 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개인용 사무 전화기 설치 지원</a:t>
                      </a:r>
                      <a:endParaRPr lang="en-US" altLang="ko-KR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533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생활 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Tip</a:t>
            </a:r>
            <a:endParaRPr lang="ko-KR" altLang="en-US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3. </a:t>
            </a:r>
            <a:r>
              <a:rPr lang="ko-KR" altLang="en-US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생활 안내</a:t>
            </a:r>
          </a:p>
          <a:p>
            <a:endParaRPr lang="ko-KR" altLang="en-US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4" name="내용 개체 틀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5) </a:t>
            </a:r>
            <a:r>
              <a:rPr lang="ko-KR" altLang="en-US"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생활 </a:t>
            </a:r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Tip</a:t>
            </a:r>
            <a:endParaRPr lang="ko-KR" altLang="en-US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493614"/>
              </p:ext>
            </p:extLst>
          </p:nvPr>
        </p:nvGraphicFramePr>
        <p:xfrm>
          <a:off x="396990" y="1270599"/>
          <a:ext cx="9231197" cy="44364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2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2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31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898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구 분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내 용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구 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내 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8836"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시차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한국보다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시간 느림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전기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규격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전압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220V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사용 가능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주파수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60hz)</a:t>
                      </a:r>
                      <a:b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콘센트 다리가 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개로 다르나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2</a:t>
                      </a:r>
                      <a:r>
                        <a:rPr lang="ko-KR" altLang="en-US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개짜리도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사용 가능한 어댑터 제공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8836"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휴일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현지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금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토요일 휴일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주의 행동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이성교제</a:t>
                      </a:r>
                      <a:endParaRPr lang="en-US" altLang="ko-KR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야간활동 자제</a:t>
                      </a:r>
                      <a:endParaRPr lang="en-US" altLang="ko-KR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음주 금지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(</a:t>
                      </a:r>
                      <a:r>
                        <a:rPr lang="ko-KR" altLang="en-US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적발시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추방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), 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주류 반입 절대 불가</a:t>
                      </a:r>
                      <a:endParaRPr lang="en-US" altLang="ko-KR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현지 문화 존중 필요</a:t>
                      </a:r>
                      <a:endParaRPr lang="en-US" altLang="ko-KR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8836"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화폐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환전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SAR (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사우디 </a:t>
                      </a:r>
                      <a:r>
                        <a:rPr lang="ko-KR" altLang="en-US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리얄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공항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몰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현지은행 등에서 환전 가능</a:t>
                      </a:r>
                      <a:endParaRPr lang="en-US" altLang="ko-KR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 USD = 3.75 SAR (</a:t>
                      </a: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고정환율</a:t>
                      </a:r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171450" indent="-171450" algn="l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신용카드 사용 가능</a:t>
                      </a:r>
                      <a:endParaRPr lang="en-US" altLang="ko-KR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lnSpc>
                          <a:spcPct val="110000"/>
                        </a:lnSpc>
                        <a:spcAft>
                          <a:spcPts val="300"/>
                        </a:spcAft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한국 시설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228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한국식당 </a:t>
                      </a:r>
                      <a:r>
                        <a:rPr lang="en-US" altLang="ko-KR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200" dirty="0" err="1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알코바</a:t>
                      </a:r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소재 </a:t>
                      </a:r>
                      <a:r>
                        <a:rPr lang="ko-KR" altLang="en-US" sz="1200" dirty="0" err="1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진고개</a:t>
                      </a:r>
                      <a:r>
                        <a:rPr lang="en-US" altLang="ko-KR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171450" marR="0" lvl="0" indent="-171450" algn="l" defTabSz="914228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 err="1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한인마트</a:t>
                      </a:r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시티 내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군데</a:t>
                      </a:r>
                      <a:r>
                        <a:rPr lang="en-US" altLang="ko-KR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</a:t>
                      </a:r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아시안</a:t>
                      </a:r>
                      <a:r>
                        <a:rPr lang="en-US" altLang="ko-KR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</a:t>
                      </a:r>
                      <a:r>
                        <a:rPr lang="en-US" altLang="ko-KR" sz="1200" baseline="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200" baseline="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오리엔탈 마켓</a:t>
                      </a:r>
                      <a:r>
                        <a:rPr lang="en-US" altLang="ko-KR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171450" marR="0" lvl="0" indent="-171450" algn="l" defTabSz="914228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한인 게스트하우스 </a:t>
                      </a:r>
                      <a:r>
                        <a:rPr lang="en-US" altLang="ko-KR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200" dirty="0" err="1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일자별</a:t>
                      </a:r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지정된 음식만 식사 가능</a:t>
                      </a:r>
                      <a:r>
                        <a:rPr lang="en-US" altLang="ko-KR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</a:t>
                      </a:r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저녁 회식은 별도 예약 필요</a:t>
                      </a:r>
                      <a:r>
                        <a:rPr lang="en-US" altLang="ko-KR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7253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[</a:t>
            </a:r>
            <a:r>
              <a:rPr lang="ko-KR" altLang="en-US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필독</a:t>
            </a:r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] </a:t>
            </a:r>
            <a:r>
              <a:rPr lang="ko-KR" altLang="en-US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현장 근무 지침 </a:t>
            </a:r>
          </a:p>
          <a:p>
            <a:endParaRPr lang="ko-KR" altLang="en-US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0698" y="1071063"/>
            <a:ext cx="925403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현지 법 및 관습 준수</a:t>
            </a:r>
            <a:endParaRPr lang="en-US" altLang="ko-KR" sz="12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622300" lvl="1" indent="-2667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주재국 현지 법 저촉 행위 금지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622300" lvl="1" indent="-2667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현지 이성과의 불필요한 접촉으로 불미스러운 일이 발생하지 않도록 각별히 유의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622300" lvl="1" indent="-2667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주류 반입 및 음주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금지된 음식물 취식 등 유의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622300" lvl="1" indent="-266700">
              <a:lnSpc>
                <a:spcPct val="150000"/>
              </a:lnSpc>
              <a:buFont typeface="+mj-lt"/>
              <a:buAutoNum type="arabicParenR"/>
            </a:pP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외출 관리 철저</a:t>
            </a:r>
            <a:endParaRPr lang="en-US" altLang="ko-KR" sz="12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622300" lvl="1" indent="-2667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외출 시 보고 철저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812800" lvl="2" indent="-190500">
              <a:lnSpc>
                <a:spcPct val="15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현지 근무지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숙소를 벗어난 출장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외출 시 출장지 및 방문지 사전 해당부서 팀장 및 관리팀 보고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622300" lvl="1" indent="-2667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외출 시 신분증 상시 소지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여권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비자원본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IQAMA)</a:t>
            </a:r>
          </a:p>
          <a:p>
            <a:pPr marL="622300" lvl="1" indent="-2667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야간 외출 및 우범지역 방문 금지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812800" lvl="2" indent="-190500">
              <a:lnSpc>
                <a:spcPct val="15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부득이한 사정 외 야간 외출 자제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(22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시 전 숙소 복귀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  <a:p>
            <a:pPr marL="812800" lvl="2" indent="-190500">
              <a:lnSpc>
                <a:spcPct val="15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안전상 문제가 있는 유흥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우범지역 사전 파악하여 회식 및 방문 금지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622300" lvl="1" indent="-2667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외부인 및 방문장소 상시 경계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812800" lvl="2" indent="-190500">
              <a:lnSpc>
                <a:spcPct val="15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수상한 인원의 도움 요청 등에 대응 금지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812800" lvl="2" indent="-190500">
              <a:lnSpc>
                <a:spcPct val="15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외부 장소 방문 시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수상한 움직임 있을 경우 해당 장소 신속히 이탈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622300" lvl="1" indent="-2667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신변 관련 연락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보고 체계 유지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사고 발생 시 비상 연락망을 통한 신속 보고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  <a:p>
            <a:pPr marL="355600" lvl="1">
              <a:lnSpc>
                <a:spcPct val="150000"/>
              </a:lnSpc>
            </a:pP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사무실</a:t>
            </a:r>
            <a:r>
              <a:rPr lang="en-US" altLang="ko-KR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2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숙소 보안 및 출입관리</a:t>
            </a:r>
            <a:endParaRPr lang="en-US" altLang="ko-KR" sz="12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622300" lvl="1" indent="-2667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외부인의 현장 및 숙소 방문 금지</a:t>
            </a:r>
          </a:p>
          <a:p>
            <a:pPr marL="622300" lvl="1" indent="-2667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외부인 출입 필요 시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출입자 인적 사항 사전 통보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 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신원확인 및 출입기록 철저</a:t>
            </a:r>
          </a:p>
        </p:txBody>
      </p:sp>
      <p:sp>
        <p:nvSpPr>
          <p:cNvPr id="6" name="내용 개체 틀 1"/>
          <p:cNvSpPr>
            <a:spLocks noGrp="1"/>
          </p:cNvSpPr>
          <p:nvPr>
            <p:ph sz="quarter" idx="12"/>
          </p:nvPr>
        </p:nvSpPr>
        <p:spPr>
          <a:xfrm>
            <a:off x="277715" y="703598"/>
            <a:ext cx="9350569" cy="734930"/>
          </a:xfrm>
        </p:spPr>
        <p:txBody>
          <a:bodyPr/>
          <a:lstStyle/>
          <a:p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당 현장 근 무 지침을 준수하여 안전한 현장 생활이 가능하도록 협조하여 주시기 바랍니다</a:t>
            </a:r>
            <a:r>
              <a:rPr lang="en-US" altLang="ko-KR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.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</a:t>
            </a:r>
            <a:endParaRPr lang="en-US" altLang="ko-KR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9670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 fontAlgn="base" latinLnBrk="0">
          <a:defRPr sz="1200" kern="0" dirty="0" smtClean="0">
            <a:solidFill>
              <a:schemeClr val="tx1"/>
            </a:solidFill>
            <a:latin typeface="Arial" panose="020B0604020202020204" pitchFamily="34" charset="0"/>
            <a:ea typeface="맑은 고딕" panose="020B0503020000020004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fontAlgn="base" latinLnBrk="0">
          <a:defRPr sz="1200" kern="0" dirty="0" smtClean="0">
            <a:latin typeface="Arial" panose="020B0604020202020204" pitchFamily="34" charset="0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11ee6e5-21a0-48c4-8af4-6cc1347f763e}" enabled="1" method="Standard" siteId="{a27ddcc1-bea5-4183-aa29-fd96d7612a1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30866</TotalTime>
  <Words>2755</Words>
  <Application>Microsoft Office PowerPoint</Application>
  <PresentationFormat>A4 용지(210x297mm)</PresentationFormat>
  <Paragraphs>427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Hyundai M Hinted</vt:lpstr>
      <vt:lpstr>맑은 고딕</vt:lpstr>
      <vt:lpstr>현대하모니 B</vt:lpstr>
      <vt:lpstr>현대하모니 L</vt:lpstr>
      <vt:lpstr>현대하모니 M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HEC</dc:creator>
  <cp:lastModifiedBy>이호수(LEE HOSOO) 매니저</cp:lastModifiedBy>
  <cp:revision>2995</cp:revision>
  <cp:lastPrinted>2017-01-03T07:35:23Z</cp:lastPrinted>
  <dcterms:created xsi:type="dcterms:W3CDTF">2011-04-21T04:31:05Z</dcterms:created>
  <dcterms:modified xsi:type="dcterms:W3CDTF">2024-09-22T08:34:41Z</dcterms:modified>
</cp:coreProperties>
</file>